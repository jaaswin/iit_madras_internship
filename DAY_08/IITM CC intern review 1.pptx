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58368"/>
            <a:ext cx="107899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7D7D7D"/>
                </a:solidFill>
                <a:latin typeface="Calibri"/>
              </a:rPr>
              <a:t>INTERNSHIP REVIEW</a:t>
            </a:r>
            <a:r>
              <a:rPr lang="en-US" sz="1200" b="1" dirty="0">
                <a:solidFill>
                  <a:srgbClr val="7D7D7D"/>
                </a:solidFill>
                <a:latin typeface="Calibri"/>
              </a:rPr>
              <a:t> 1</a:t>
            </a:r>
            <a:endParaRPr sz="1200" b="1" dirty="0">
              <a:solidFill>
                <a:srgbClr val="7D7D7D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89888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300" b="1">
                <a:solidFill>
                  <a:srgbClr val="141414"/>
                </a:solidFill>
                <a:latin typeface="Calibri"/>
              </a:rPr>
              <a:t>Networking, DHCP &amp;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9080" y="2350008"/>
            <a:ext cx="4069080" cy="228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900" b="0">
                <a:solidFill>
                  <a:srgbClr val="373737"/>
                </a:solidFill>
                <a:latin typeface="Calibri"/>
              </a:rPr>
              <a:t>IIT Madras Computer Centre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8211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7D7D7D"/>
                </a:solidFill>
                <a:latin typeface="Calibri"/>
              </a:rPr>
              <a:t>P.G. Senapathy Centre for Computing Resources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251960"/>
            <a:ext cx="1508760" cy="5029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1">
                <a:solidFill>
                  <a:srgbClr val="141414"/>
                </a:solidFill>
                <a:latin typeface="Calibri"/>
              </a:rPr>
              <a:t>NETWORK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64991" y="4503420"/>
            <a:ext cx="539496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77639" y="4251960"/>
            <a:ext cx="1508760" cy="5029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1">
                <a:solidFill>
                  <a:srgbClr val="141414"/>
                </a:solidFill>
                <a:latin typeface="Calibri"/>
              </a:rPr>
              <a:t>DHCP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13831" y="4503420"/>
            <a:ext cx="539496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26480" y="4251960"/>
            <a:ext cx="1508760" cy="5029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100" b="1" dirty="0">
                <a:solidFill>
                  <a:srgbClr val="141414"/>
                </a:solidFill>
              </a:rPr>
              <a:t>AUTOMATION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62672" y="4503420"/>
            <a:ext cx="539496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75320" y="4251960"/>
            <a:ext cx="1508760" cy="50292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100" b="1" dirty="0">
                <a:solidFill>
                  <a:srgbClr val="141414"/>
                </a:solidFill>
                <a:latin typeface="Calibri"/>
              </a:rPr>
              <a:t>DNS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7899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200" b="0" dirty="0">
                <a:solidFill>
                  <a:srgbClr val="7D7D7D"/>
                </a:solidFill>
                <a:latin typeface="Calibri"/>
              </a:rPr>
              <a:t>1 - 8 </a:t>
            </a:r>
            <a:r>
              <a:rPr sz="1200" b="0" dirty="0">
                <a:solidFill>
                  <a:srgbClr val="7D7D7D"/>
                </a:solidFill>
                <a:latin typeface="Calibr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1560" y="22860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Internship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50392"/>
            <a:ext cx="10972800" cy="16459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69264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7D7D7D"/>
                </a:solidFill>
                <a:latin typeface="Calibri"/>
              </a:rPr>
              <a:t>From understanding operations to automating DHCP reservations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627632" cy="7772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Network
Troubleshooting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59152" y="3131820"/>
            <a:ext cx="219456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33472" y="2743200"/>
            <a:ext cx="1627632" cy="7772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DHCP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61104" y="3131820"/>
            <a:ext cx="219456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35424" y="2743200"/>
            <a:ext cx="1627632" cy="7772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DHCP
Reservation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63056" y="3131820"/>
            <a:ext cx="219456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37376" y="2743200"/>
            <a:ext cx="1627632" cy="7772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Kea DHCP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65008" y="3131820"/>
            <a:ext cx="219456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39328" y="2743200"/>
            <a:ext cx="1627632" cy="7772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400" b="1" dirty="0">
                <a:solidFill>
                  <a:srgbClr val="141414"/>
                </a:solidFill>
                <a:latin typeface="Calibri"/>
              </a:rPr>
              <a:t>Automation</a:t>
            </a:r>
            <a:endParaRPr sz="1400" b="1" dirty="0">
              <a:solidFill>
                <a:srgbClr val="141414"/>
              </a:solidFill>
              <a:latin typeface="Calibri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9966960" y="3131820"/>
            <a:ext cx="219456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241280" y="2743200"/>
            <a:ext cx="1627632" cy="777240"/>
          </a:xfrm>
          <a:prstGeom prst="roundRect">
            <a:avLst/>
          </a:prstGeom>
          <a:solidFill>
            <a:schemeClr val="bg1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400" b="1" dirty="0">
                <a:solidFill>
                  <a:srgbClr val="141414"/>
                </a:solidFill>
                <a:latin typeface="Calibri"/>
              </a:rPr>
              <a:t>DNS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57200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Calibri"/>
              </a:rPr>
              <a:t>Understand network  →  Control DHCP  →  Automate reservations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1560" y="22860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Real Network 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50392"/>
            <a:ext cx="10972800" cy="16459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69264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7D7D7D"/>
                </a:solidFill>
                <a:latin typeface="Calibri"/>
              </a:rPr>
              <a:t>High CPU utilization in network devices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2103120" cy="658368"/>
          </a:xfrm>
          <a:prstGeom prst="roundRect">
            <a:avLst/>
          </a:prstGeom>
          <a:solidFill>
            <a:schemeClr val="bg1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141414"/>
                </a:solidFill>
                <a:latin typeface="Calibri"/>
              </a:rPr>
              <a:t>PROBLEM
High CPU usage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Investigated CPU utilization and historical trends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16352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16352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Identified SISF as a significant CPU consumer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55264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5526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Studied IPv6 and Neighbor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94176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Performed a controlled IPv6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33087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33087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Observed impact and restored configuration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331720"/>
            <a:ext cx="841248" cy="5943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1">
                <a:solidFill>
                  <a:srgbClr val="141414"/>
                </a:solidFill>
                <a:latin typeface="Calibri"/>
              </a:rPr>
              <a:t>Monitor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14031" y="2628900"/>
            <a:ext cx="173737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0" y="2331720"/>
            <a:ext cx="841248" cy="5943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1">
                <a:solidFill>
                  <a:srgbClr val="141414"/>
                </a:solidFill>
                <a:latin typeface="Calibri"/>
              </a:rPr>
              <a:t>Analyze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65592" y="2628900"/>
            <a:ext cx="173736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66759" y="2331720"/>
            <a:ext cx="841248" cy="5943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1">
                <a:solidFill>
                  <a:srgbClr val="141414"/>
                </a:solidFill>
                <a:latin typeface="Calibri"/>
              </a:rPr>
              <a:t>Test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17151" y="2628900"/>
            <a:ext cx="173737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418319" y="2331720"/>
            <a:ext cx="841248" cy="5943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1">
                <a:solidFill>
                  <a:srgbClr val="141414"/>
                </a:solidFill>
                <a:latin typeface="Calibri"/>
              </a:rPr>
              <a:t>Evaluate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268711" y="2628900"/>
            <a:ext cx="173736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469880" y="2331720"/>
            <a:ext cx="841248" cy="5943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1">
                <a:solidFill>
                  <a:srgbClr val="141414"/>
                </a:solidFill>
                <a:latin typeface="Calibri"/>
              </a:rPr>
              <a:t>Rollback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94760"/>
            <a:ext cx="4709160" cy="749808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41414"/>
                </a:solidFill>
                <a:latin typeface="Calibri"/>
              </a:rPr>
              <a:t>Key lesson: Improve performance without affecting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1560" y="22860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DHCP Server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50392"/>
            <a:ext cx="10972800" cy="16459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69264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7D7D7D"/>
                </a:solidFill>
                <a:latin typeface="Calibri"/>
              </a:rPr>
              <a:t>Configured and validated DHCP client allocation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54480"/>
            <a:ext cx="1965960" cy="8686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>
                <a:solidFill>
                  <a:srgbClr val="141414"/>
                </a:solidFill>
                <a:latin typeface="Calibri"/>
              </a:rPr>
              <a:t>Linux
DHCP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554480"/>
            <a:ext cx="1965960" cy="8686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>
                <a:solidFill>
                  <a:srgbClr val="141414"/>
                </a:solidFill>
                <a:latin typeface="Calibri"/>
              </a:rPr>
              <a:t>Network
Switch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554480"/>
            <a:ext cx="1965960" cy="8686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>
                <a:solidFill>
                  <a:srgbClr val="141414"/>
                </a:solidFill>
                <a:latin typeface="Calibri"/>
              </a:rPr>
              <a:t>Laptop
Client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07792" y="1988819"/>
            <a:ext cx="896112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79592" y="1988819"/>
            <a:ext cx="905256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0" y="1728216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7D7D7D"/>
                </a:solidFill>
                <a:latin typeface="Calibri"/>
              </a:rPr>
              <a:t>Server  →  Switch  → 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03580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Installed DHCP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47288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4728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Configured subnet and IP pool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58768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85876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Configured gateway and DNS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70248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27024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Tested DHCP client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81728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6817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Verified IP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17520"/>
            <a:ext cx="4389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7D7D7D"/>
                </a:solidFill>
                <a:latin typeface="Calibri"/>
              </a:rPr>
              <a:t>DHCP HANDSHAKE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3520440"/>
            <a:ext cx="1078992" cy="530352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Calibri"/>
              </a:rPr>
              <a:t>Discover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77456" y="3785615"/>
            <a:ext cx="219456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42631" y="3520440"/>
            <a:ext cx="1078992" cy="530352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Calibri"/>
              </a:rPr>
              <a:t>Offer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30767" y="3785615"/>
            <a:ext cx="219457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95944" y="3520440"/>
            <a:ext cx="1078992" cy="530352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Calibri"/>
              </a:rPr>
              <a:t>Request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84080" y="3785615"/>
            <a:ext cx="219456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049255" y="3520440"/>
            <a:ext cx="1078992" cy="530352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Calibri"/>
              </a:rPr>
              <a:t>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1560" y="22860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DHCP Reservation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50392"/>
            <a:ext cx="10972800" cy="16459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69264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7D7D7D"/>
                </a:solidFill>
                <a:latin typeface="Calibri"/>
              </a:rPr>
              <a:t>Same MAC address → predictable IP address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645920"/>
            <a:ext cx="2880360" cy="8229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>
                <a:solidFill>
                  <a:srgbClr val="141414"/>
                </a:solidFill>
                <a:latin typeface="Calibri"/>
              </a:rPr>
              <a:t>Client MAC Address
30:13:8B:C4:06:3D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2057400"/>
            <a:ext cx="1691640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760720" y="1645920"/>
            <a:ext cx="2834640" cy="822960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>
                <a:solidFill>
                  <a:srgbClr val="141414"/>
                </a:solidFill>
                <a:latin typeface="Calibri"/>
              </a:rPr>
              <a:t>Reserved IP Address
192.168.10.151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7635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Identified the client MAC address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39312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639312"/>
            <a:ext cx="7635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Created DHCP reservation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23944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123944"/>
            <a:ext cx="7635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Renewed the client 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08576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608576"/>
            <a:ext cx="7635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Verified the reserved 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5257800"/>
            <a:ext cx="9692640" cy="612648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>
                <a:solidFill>
                  <a:srgbClr val="141414"/>
                </a:solidFill>
                <a:latin typeface="Calibri"/>
              </a:rPr>
              <a:t>Result: The same client receives a predictable IP based on its MAC address.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1560" y="22860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ISC DHCP → Kea DHCP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50392"/>
            <a:ext cx="10972800" cy="16459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69264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7D7D7D"/>
                </a:solidFill>
                <a:latin typeface="Calibri"/>
              </a:rPr>
              <a:t>A move from manual configuration toward API-based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4251960" cy="530352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900" b="1">
                <a:solidFill>
                  <a:srgbClr val="141414"/>
                </a:solidFill>
                <a:latin typeface="Calibri"/>
              </a:rPr>
              <a:t>ISC DHCP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417320"/>
            <a:ext cx="4251960" cy="530352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900" b="1">
                <a:solidFill>
                  <a:srgbClr val="141414"/>
                </a:solidFill>
                <a:latin typeface="Calibri"/>
              </a:rPr>
              <a:t>Kea DHCP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0" y="1682496"/>
            <a:ext cx="1353312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88720" y="2331720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3172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Manual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98648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98648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File-based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465576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65576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More repetitive administration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331720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33172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DHCPv4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843784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843784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Control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355848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355848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REST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867912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867912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Automation-ready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5120640"/>
            <a:ext cx="9144000" cy="640080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>
                <a:solidFill>
                  <a:srgbClr val="141414"/>
                </a:solidFill>
                <a:latin typeface="Calibri"/>
              </a:rPr>
              <a:t>Kea enabled API-based DHCP management for automation.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1560" y="22860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Kea Control Agent &amp;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50392"/>
            <a:ext cx="10972800" cy="16459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69264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7D7D7D"/>
                </a:solidFill>
                <a:latin typeface="Calibri"/>
              </a:rPr>
              <a:t>Programmatic management path for DHCP reservations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148840" cy="8229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>
                <a:solidFill>
                  <a:srgbClr val="141414"/>
                </a:solidFill>
                <a:latin typeface="Calibri"/>
              </a:rPr>
              <a:t>Python
Script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98648" y="2148840"/>
            <a:ext cx="530352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20439" y="1737360"/>
            <a:ext cx="2148840" cy="822960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>
                <a:solidFill>
                  <a:srgbClr val="141414"/>
                </a:solidFill>
                <a:latin typeface="Calibri"/>
              </a:rPr>
              <a:t>REST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87568" y="2148840"/>
            <a:ext cx="530352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9359" y="1737360"/>
            <a:ext cx="2148840" cy="8229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>
                <a:solidFill>
                  <a:srgbClr val="141414"/>
                </a:solidFill>
                <a:latin typeface="Calibri"/>
              </a:rPr>
              <a:t>Kea Control
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76488" y="2148840"/>
            <a:ext cx="530352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98280" y="1737360"/>
            <a:ext cx="2148840" cy="82296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>
                <a:solidFill>
                  <a:srgbClr val="141414"/>
                </a:solidFill>
                <a:latin typeface="Calibri"/>
              </a:rPr>
              <a:t>Kea DHCPv4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37560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37560"/>
            <a:ext cx="9372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41414"/>
                </a:solidFill>
                <a:latin typeface="Calibri"/>
              </a:rPr>
              <a:t>Control Agent provides an interface to manage Kea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95344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95344"/>
            <a:ext cx="9372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41414"/>
                </a:solidFill>
                <a:latin typeface="Calibri"/>
              </a:rPr>
              <a:t>Python communicates with Kea through the REST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453128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453128"/>
            <a:ext cx="9372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41414"/>
                </a:solidFill>
                <a:latin typeface="Calibri"/>
              </a:rPr>
              <a:t>Reservations can be created and verified programmatically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1560" y="22860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Automated DHCP Reservation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50392"/>
            <a:ext cx="10972800" cy="16459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69264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7D7D7D"/>
                </a:solidFill>
                <a:latin typeface="Calibri"/>
              </a:rPr>
              <a:t>Main workflow: spreadsheet-driven reservation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78808" y="1234440"/>
            <a:ext cx="3794760" cy="42976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Google Sheet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76188" y="1673352"/>
            <a:ext cx="0" cy="13716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78808" y="1837944"/>
            <a:ext cx="3794760" cy="42976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Published CSV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76188" y="2276856"/>
            <a:ext cx="0" cy="13716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78808" y="2441448"/>
            <a:ext cx="3794760" cy="429768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Python
Automation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76188" y="2880360"/>
            <a:ext cx="0" cy="13716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78808" y="3044952"/>
            <a:ext cx="3794760" cy="429768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Kea Control
Agent API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76188" y="3483864"/>
            <a:ext cx="0" cy="13716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78808" y="3648456"/>
            <a:ext cx="3794760" cy="42976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Kea DHCPv4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76188" y="4087368"/>
            <a:ext cx="0" cy="13716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78808" y="4251960"/>
            <a:ext cx="3794760" cy="42976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DHCP Client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76188" y="4690872"/>
            <a:ext cx="0" cy="13716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78808" y="4855464"/>
            <a:ext cx="3794760" cy="429768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Reserved 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508760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1508760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  <a:latin typeface="Calibri"/>
              </a:rPr>
              <a:t>Google Sheet stores hostname, MAC and reserved 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176272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176272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  <a:latin typeface="Calibri"/>
              </a:rPr>
              <a:t>Python retrieves and validates the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843784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2843784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  <a:latin typeface="Calibri"/>
              </a:rPr>
              <a:t>Python sends reservation requests through the Kea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511296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511296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  <a:latin typeface="Calibri"/>
              </a:rPr>
              <a:t>Kea creates the reservation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78808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7880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  <a:latin typeface="Calibri"/>
              </a:rPr>
              <a:t>Client receives the reserved 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182880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7D7D7D"/>
                </a:solidFill>
                <a:latin typeface="Calibri"/>
              </a:rPr>
              <a:t>AUTOMATION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2377440"/>
            <a:ext cx="2468880" cy="13258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Input
Hostname • MAC • IP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49640" y="4069080"/>
            <a:ext cx="2468880" cy="1005840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1">
                <a:solidFill>
                  <a:srgbClr val="141414"/>
                </a:solidFill>
                <a:latin typeface="Calibri"/>
              </a:rPr>
              <a:t>Output
Reserved IP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84080" y="3721608"/>
            <a:ext cx="0" cy="256031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1560" y="22860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End-to-End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50392"/>
            <a:ext cx="10972800" cy="16459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69264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7D7D7D"/>
                </a:solidFill>
                <a:latin typeface="Calibri"/>
              </a:rPr>
              <a:t>Validated the complete path from input data to the DHCP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417320" cy="5486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Input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75688" y="1783080"/>
            <a:ext cx="374903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14600" y="1508760"/>
            <a:ext cx="1417320" cy="5486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Processing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50208" y="1783080"/>
            <a:ext cx="374904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0" y="1508760"/>
            <a:ext cx="1417320" cy="5486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24728" y="1783080"/>
            <a:ext cx="374903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63640" y="1508760"/>
            <a:ext cx="1417320" cy="5486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DHCP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99248" y="1783080"/>
            <a:ext cx="374904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38159" y="1508760"/>
            <a:ext cx="1417320" cy="5486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Client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73767" y="1783080"/>
            <a:ext cx="374905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12680" y="1508760"/>
            <a:ext cx="1417320" cy="54864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>
                <a:solidFill>
                  <a:srgbClr val="141414"/>
                </a:solidFill>
                <a:latin typeface="Calibri"/>
              </a:rPr>
              <a:t>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743200"/>
            <a:ext cx="347472" cy="347472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>
                <a:solidFill>
                  <a:srgbClr val="141414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761488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CSV retrieval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43200"/>
            <a:ext cx="347472" cy="347472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>
                <a:solidFill>
                  <a:srgbClr val="141414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761488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Python processing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401568"/>
            <a:ext cx="347472" cy="347472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>
                <a:solidFill>
                  <a:srgbClr val="141414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419856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API communication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01568"/>
            <a:ext cx="347472" cy="347472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>
                <a:solidFill>
                  <a:srgbClr val="141414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419856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Reservation creation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059935"/>
            <a:ext cx="347472" cy="347472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>
                <a:solidFill>
                  <a:srgbClr val="141414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078223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Reservation verification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059935"/>
            <a:ext cx="347472" cy="347472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>
                <a:solidFill>
                  <a:srgbClr val="141414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078223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141414"/>
                </a:solidFill>
                <a:latin typeface="Calibri"/>
              </a:rPr>
              <a:t>Client receives reserved 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074920"/>
            <a:ext cx="10149840" cy="65836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>
                <a:solidFill>
                  <a:srgbClr val="141414"/>
                </a:solidFill>
                <a:latin typeface="Calibri"/>
              </a:rPr>
              <a:t>Example   MAC: 30:13:8B:C4:06:3D     →     Reserved IP: 192.168.10.151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1560" y="22860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DNS Server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50392"/>
            <a:ext cx="10972800" cy="16459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69264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7D7D7D"/>
                </a:solidFill>
                <a:latin typeface="Calibri"/>
              </a:rPr>
              <a:t>Configured and validated DNS resolution with a ping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54480"/>
            <a:ext cx="1965960" cy="8686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>
                <a:solidFill>
                  <a:srgbClr val="141414"/>
                </a:solidFill>
                <a:latin typeface="Calibri"/>
              </a:rPr>
              <a:t>Linux
DNS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554480"/>
            <a:ext cx="1965960" cy="8686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>
                <a:solidFill>
                  <a:srgbClr val="141414"/>
                </a:solidFill>
                <a:latin typeface="Calibri"/>
              </a:rPr>
              <a:t>Laptop
Client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07792" y="1988819"/>
            <a:ext cx="896112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0" y="1728216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7D7D7D"/>
                </a:solidFill>
                <a:latin typeface="Calibri"/>
              </a:rPr>
              <a:t>Server  → 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03580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Installed DNS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47288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4728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Configured DNS zone and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58768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85876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Configured client to use DNS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70248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27024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Tested resolution by pinging www.example.com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81728"/>
            <a:ext cx="182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41414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6817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Verified successful reply from the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17520"/>
            <a:ext cx="4389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7D7D7D"/>
                </a:solidFill>
                <a:latin typeface="Calibri"/>
              </a:rPr>
              <a:t>DNS RESOLUTION &amp; PING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61307" y="3520440"/>
            <a:ext cx="1170429" cy="56692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200" b="1" dirty="0">
                <a:solidFill>
                  <a:srgbClr val="141414"/>
                </a:solidFill>
                <a:latin typeface="Calibri"/>
              </a:rPr>
              <a:t>DNS resolver</a:t>
            </a:r>
            <a:br>
              <a:rPr lang="en-US" sz="1200" b="1" dirty="0">
                <a:solidFill>
                  <a:srgbClr val="141414"/>
                </a:solidFill>
                <a:latin typeface="Calibri"/>
              </a:rPr>
            </a:br>
            <a:r>
              <a:rPr lang="en-US" sz="1200" b="1" dirty="0">
                <a:solidFill>
                  <a:srgbClr val="141414"/>
                </a:solidFill>
                <a:latin typeface="Calibri"/>
              </a:rPr>
              <a:t>(Query)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77456" y="3785615"/>
            <a:ext cx="219456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24343" y="3511973"/>
            <a:ext cx="1124713" cy="64074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200" b="1" dirty="0">
                <a:solidFill>
                  <a:srgbClr val="141414"/>
                </a:solidFill>
                <a:latin typeface="Calibri"/>
              </a:rPr>
              <a:t>Root name server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30767" y="3785615"/>
            <a:ext cx="219457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50224" y="3427476"/>
            <a:ext cx="1170430" cy="74980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br>
              <a:rPr lang="en-US" sz="1200" b="1" dirty="0">
                <a:solidFill>
                  <a:srgbClr val="141414"/>
                </a:solidFill>
              </a:rPr>
            </a:br>
            <a:r>
              <a:rPr lang="en-US" sz="1200" b="1" dirty="0">
                <a:solidFill>
                  <a:srgbClr val="141414"/>
                </a:solidFill>
              </a:rPr>
              <a:t>TLD name server</a:t>
            </a:r>
          </a:p>
          <a:p>
            <a:pPr algn="ctr"/>
            <a:r>
              <a:rPr lang="en-US" sz="1200" b="1" dirty="0">
                <a:solidFill>
                  <a:srgbClr val="141414"/>
                </a:solidFill>
              </a:rPr>
              <a:t>Eg: .com</a:t>
            </a:r>
          </a:p>
          <a:p>
            <a:pPr algn="ctr"/>
            <a:r>
              <a:rPr lang="en-US" sz="1200" b="1" dirty="0">
                <a:solidFill>
                  <a:srgbClr val="141414"/>
                </a:solidFill>
                <a:latin typeface="Calibri"/>
              </a:rPr>
              <a:t> </a:t>
            </a:r>
            <a:endParaRPr sz="1200" b="1" dirty="0">
              <a:solidFill>
                <a:srgbClr val="141414"/>
              </a:solidFill>
              <a:latin typeface="Calibri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9784080" y="3785615"/>
            <a:ext cx="219456" cy="0"/>
          </a:xfrm>
          <a:prstGeom prst="line">
            <a:avLst/>
          </a:prstGeom>
          <a:ln w="15875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021822" y="3504522"/>
            <a:ext cx="1255778" cy="64008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200" b="1" dirty="0" err="1">
                <a:solidFill>
                  <a:srgbClr val="141414"/>
                </a:solidFill>
                <a:latin typeface="Calibri"/>
              </a:rPr>
              <a:t>Athoritative</a:t>
            </a:r>
            <a:r>
              <a:rPr lang="en-US" sz="1200" b="1" dirty="0">
                <a:solidFill>
                  <a:srgbClr val="141414"/>
                </a:solidFill>
                <a:latin typeface="Calibri"/>
              </a:rPr>
              <a:t> name server</a:t>
            </a:r>
            <a:endParaRPr sz="1200" b="1" dirty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8FC8E3-B4DD-FCD2-90A5-A0D6A9061756}"/>
              </a:ext>
            </a:extLst>
          </p:cNvPr>
          <p:cNvSpPr txBox="1"/>
          <p:nvPr/>
        </p:nvSpPr>
        <p:spPr>
          <a:xfrm>
            <a:off x="3050066" y="1716283"/>
            <a:ext cx="14762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1DA5E0-8285-C088-DFD8-6F904DBF9C36}"/>
              </a:ext>
            </a:extLst>
          </p:cNvPr>
          <p:cNvSpPr txBox="1"/>
          <p:nvPr/>
        </p:nvSpPr>
        <p:spPr>
          <a:xfrm>
            <a:off x="2364316" y="5577840"/>
            <a:ext cx="80729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/>
              <a:t>You  →  </a:t>
            </a:r>
            <a:r>
              <a:rPr lang="en-US" sz="1200" dirty="0">
                <a:hlinkClick r:id="rId2"/>
              </a:rPr>
              <a:t>www.google.com</a:t>
            </a:r>
            <a:r>
              <a:rPr lang="en-US" sz="1200" dirty="0"/>
              <a:t>  →  DNS Server  →  Finds IP Address  → 142.250.xxx.xxx →  Google Server  →  Website Displayed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1560" y="22860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Key Learning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50392"/>
            <a:ext cx="10972800" cy="16459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69264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7D7D7D"/>
                </a:solidFill>
                <a:latin typeface="Calibri"/>
              </a:rPr>
              <a:t>Technical skills developed during the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874519" cy="987552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1">
                <a:solidFill>
                  <a:srgbClr val="141414"/>
                </a:solidFill>
                <a:latin typeface="Calibri"/>
              </a:rPr>
              <a:t>Network
Troubleshooting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61488"/>
            <a:ext cx="1874519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7D7D7D"/>
                </a:solidFill>
                <a:latin typeface="Calibri"/>
              </a:rPr>
              <a:t>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9232" y="1645920"/>
            <a:ext cx="1874519" cy="987552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1">
                <a:solidFill>
                  <a:srgbClr val="141414"/>
                </a:solidFill>
                <a:latin typeface="Calibri"/>
              </a:rPr>
              <a:t>DHCP
Administration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761488"/>
            <a:ext cx="1874519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7D7D7D"/>
                </a:solidFill>
                <a:latin typeface="Calibri"/>
              </a:rPr>
              <a:t>SKILL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66944" y="1645920"/>
            <a:ext cx="1874519" cy="987552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1">
                <a:solidFill>
                  <a:srgbClr val="141414"/>
                </a:solidFill>
                <a:latin typeface="Calibri"/>
              </a:rPr>
              <a:t>Kea DHCP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6944" y="2761488"/>
            <a:ext cx="1874519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7D7D7D"/>
                </a:solidFill>
                <a:latin typeface="Calibri"/>
              </a:rPr>
              <a:t>SKILL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34656" y="1645920"/>
            <a:ext cx="1874519" cy="987552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500" b="1" dirty="0">
                <a:solidFill>
                  <a:srgbClr val="141414"/>
                </a:solidFill>
                <a:latin typeface="Calibri"/>
              </a:rPr>
              <a:t>DNS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4656" y="2761488"/>
            <a:ext cx="1874519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7D7D7D"/>
                </a:solidFill>
                <a:latin typeface="Calibri"/>
              </a:rPr>
              <a:t>SKILL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02368" y="1645920"/>
            <a:ext cx="1874519" cy="987552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500" b="1" dirty="0">
                <a:solidFill>
                  <a:srgbClr val="141414"/>
                </a:solidFill>
                <a:latin typeface="Calibri"/>
              </a:rPr>
              <a:t>ISO 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2368" y="2761488"/>
            <a:ext cx="1874519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7D7D7D"/>
                </a:solidFill>
                <a:latin typeface="Calibri"/>
              </a:rPr>
              <a:t>SKILL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206240"/>
            <a:ext cx="10104120" cy="868680"/>
          </a:xfrm>
          <a:prstGeom prst="roundRect">
            <a:avLst/>
          </a:prstGeom>
          <a:solidFill>
            <a:srgbClr val="EFEFEF"/>
          </a:solidFill>
          <a:ln w="14604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2100" b="1" dirty="0">
                <a:solidFill>
                  <a:srgbClr val="141414"/>
                </a:solidFill>
                <a:latin typeface="Calibri"/>
              </a:rPr>
              <a:t>From manual DHCP configuration to automated reservation management</a:t>
            </a:r>
            <a:r>
              <a:rPr lang="en-US" sz="2100" b="1" dirty="0">
                <a:solidFill>
                  <a:srgbClr val="141414"/>
                </a:solidFill>
                <a:latin typeface="Calibri"/>
              </a:rPr>
              <a:t> &amp; DNS config</a:t>
            </a:r>
            <a:endParaRPr sz="2100" b="1" dirty="0">
              <a:solidFill>
                <a:srgbClr val="141414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7D7D7D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596</Words>
  <Application>Microsoft Office PowerPoint</Application>
  <PresentationFormat>Widescreen</PresentationFormat>
  <Paragraphs>183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jayaaswin M</cp:lastModifiedBy>
  <cp:revision>5</cp:revision>
  <dcterms:created xsi:type="dcterms:W3CDTF">2013-01-27T09:14:16Z</dcterms:created>
  <dcterms:modified xsi:type="dcterms:W3CDTF">2026-09-09T14:33:38Z</dcterms:modified>
  <cp:category/>
</cp:coreProperties>
</file>