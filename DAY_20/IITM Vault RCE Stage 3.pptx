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7" r:id="rId2"/>
    <p:sldId id="258" r:id="rId3"/>
    <p:sldId id="263" r:id="rId4"/>
    <p:sldId id="262" r:id="rId5"/>
    <p:sldId id="259" r:id="rId6"/>
    <p:sldId id="261" r:id="rId7"/>
    <p:sldId id="269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946" y="3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126B61-8BB5-434B-A2B1-81792751C057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683DAB-1640-4431-9E86-6998E0C1E9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6391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683DAB-1640-4431-9E86-6998E0C1E9C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5125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683DAB-1640-4431-9E86-6998E0C1E9C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1357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6B5B9-95CC-3B95-C6CF-5921AB4C39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ABC361-051C-31D6-8DA7-38FEF9BAE5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5C7B6E-B5EA-178C-FB20-C5C4FF7E3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A7849-46DD-4B70-84DC-FD47F203F29C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2FB175-C8ED-5FA5-1D51-691502260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D38191-E6D8-F583-77BA-99EBF38B2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1251B-7906-493F-83F0-ECBE5DCF4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6272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162C8-F9CA-4640-143B-D9D15A54F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58C731-D2F0-EABE-9B80-26A859ABB5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82B6B-4524-3BCC-F4E6-0B76235D2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A7849-46DD-4B70-84DC-FD47F203F29C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FBB80F-E9A0-0E36-FAF1-D7EFD6F4E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738585-CA49-E2C9-C3EE-37EFE9013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1251B-7906-493F-83F0-ECBE5DCF4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3725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F11C8-E07C-CBEF-D77C-7E98C398B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CA514D-BC03-2B8D-44D1-255423E76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5F2AE5-9EAC-0DFD-DF0E-F211E5A24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A7849-46DD-4B70-84DC-FD47F203F29C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632452-2F94-9F22-3BE4-F9E828815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BB87CD-39C6-6461-AE5D-1772FF1DA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1251B-7906-493F-83F0-ECBE5DCF4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2146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5F94A-4870-D766-23B6-6573B858F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EAFFB4-23F0-104D-069A-B902BA70B9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01BB9F-173C-B5A9-11B1-ADBACBC458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9A5C4A-2704-04FA-3A1F-888BF3839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A7849-46DD-4B70-84DC-FD47F203F29C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5EB100-EB32-6119-37F6-61E1FBA78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CC71F2-723C-D0E2-73EE-FA37D0F4B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1251B-7906-493F-83F0-ECBE5DCF4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4776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58172-AC73-33B4-B0D0-C91C94372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9BFCE3-7E6A-5CFF-6140-20D5295F96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702E5E-8EB9-F61F-301C-6411776098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E9FB3-D418-5177-9108-4F327931EB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91FD7C-B4F4-8B4A-2026-18019D3B3E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3F89160-E25B-C787-3CEA-052E87566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A7849-46DD-4B70-84DC-FD47F203F29C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BA7991-F749-CC76-FB28-01869479E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B18B83-003B-6A51-5C2D-B1754B2A3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1251B-7906-493F-83F0-ECBE5DCF4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7700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01149-437C-80E1-DF0D-2BEE9FBA6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E09F2A-6364-59B4-11E0-DB618F1EB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A7849-46DD-4B70-84DC-FD47F203F29C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F0D13F-7A68-0FBF-7360-C4755C1B9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CF5D95-698F-7B3D-FB43-F4692AF43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1251B-7906-493F-83F0-ECBE5DCF4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9018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3585FE-25C6-CB7D-D3E0-035A648AC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A7849-46DD-4B70-84DC-FD47F203F29C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16DBEB-2BD5-E3E8-8A7E-A6F164DDA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8EC01D-E2CB-7D53-E1F6-5CFB0F60E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1251B-7906-493F-83F0-ECBE5DCF4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1134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F4B0B-7B96-4953-D8EC-C286A300A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9CBBE7-20E1-5566-E670-27A2F5815E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A0E551-877D-D772-13EF-B7193EF9CF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BE0241-41F2-46BE-5143-98271E450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A7849-46DD-4B70-84DC-FD47F203F29C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5AA3C3-B2C1-A13F-E60E-FAD3258B3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DAE040-9172-0338-1D56-34D7D564B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1251B-7906-493F-83F0-ECBE5DCF4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6650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E1269-2354-493B-0AC2-28F48B4C6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96A2E5-9670-BC8F-5FD7-C6C7A4DD02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BE7130-CBF9-0709-5E2E-B60D199C96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120A57-AFCC-F3B5-82E2-AFBAD19EE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A7849-46DD-4B70-84DC-FD47F203F29C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8FB90E-6E7A-2932-C28C-A0F5573E8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31AB65-9850-884F-71EA-C0C2DE78F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1251B-7906-493F-83F0-ECBE5DCF4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7781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DC025-511A-8086-9555-8425934D5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3019F3-852C-A83D-2F13-60E90A8DE6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C225A4-389E-71D6-2A9A-AF365BDE5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A7849-46DD-4B70-84DC-FD47F203F29C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600AC0-6547-96AA-5DCA-5C2020396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06C285-872B-EE2C-C7AF-DBC93C9B4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1251B-7906-493F-83F0-ECBE5DCF4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7512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4EDCF10-BA37-5EB7-C901-E10AA1BF89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C2DB86-44A7-1BAB-353F-8D3695A749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66A3F3-294C-00DF-18CA-2E5FA450E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A7849-46DD-4B70-84DC-FD47F203F29C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AF5A81-3FF8-542E-02E1-A546FF365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90B35-BBC4-511E-3762-832C4A906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1251B-7906-493F-83F0-ECBE5DCF4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041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8E327B-BB2E-4BFE-AD7B-13E76ED545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15D8D-C833-A59A-6BCF-D4D3291996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E37498-6007-3FBA-FE1B-D1BFD0F05B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EA7849-46DD-4B70-84DC-FD47F203F29C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84CD09-CA2F-24A7-FCFD-54C0EAC424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73BFC9-7CF2-A9CC-38FE-7FC36D3293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E1251B-7906-493F-83F0-ECBE5DCF4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334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8DF83D0-D315-C7A3-D4FF-FF3D3645DAD5}"/>
              </a:ext>
            </a:extLst>
          </p:cNvPr>
          <p:cNvSpPr txBox="1"/>
          <p:nvPr/>
        </p:nvSpPr>
        <p:spPr>
          <a:xfrm>
            <a:off x="549487" y="566491"/>
            <a:ext cx="10466493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3600" b="0" dirty="0">
                <a:solidFill>
                  <a:srgbClr val="373737"/>
                </a:solidFill>
                <a:latin typeface="Calibri"/>
              </a:rPr>
              <a:t>IIT Madras Computer Centre</a:t>
            </a:r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98BD5864-5AB2-E46C-1F8D-D4C75E6F0316}"/>
              </a:ext>
            </a:extLst>
          </p:cNvPr>
          <p:cNvSpPr txBox="1"/>
          <p:nvPr/>
        </p:nvSpPr>
        <p:spPr>
          <a:xfrm>
            <a:off x="387772" y="1283897"/>
            <a:ext cx="1078992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000" b="0" dirty="0">
                <a:solidFill>
                  <a:srgbClr val="7D7D7D"/>
                </a:solidFill>
                <a:latin typeface="Calibri"/>
              </a:rPr>
              <a:t>P.G. Senapathy Centre for Computing Resources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7BF8D9-5CCE-59D3-69CB-E8E4C21E2B09}"/>
              </a:ext>
            </a:extLst>
          </p:cNvPr>
          <p:cNvSpPr txBox="1"/>
          <p:nvPr/>
        </p:nvSpPr>
        <p:spPr>
          <a:xfrm>
            <a:off x="1557867" y="2747132"/>
            <a:ext cx="862753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000000"/>
                </a:solidFill>
              </a:rPr>
              <a:t>Remote Code Execution (RCE) – STAGE 3</a:t>
            </a:r>
            <a:endParaRPr lang="en-US" b="1" dirty="0">
              <a:solidFill>
                <a:srgbClr val="000000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2009809-9566-25E0-A5C6-34FD9E8C3E63}"/>
              </a:ext>
            </a:extLst>
          </p:cNvPr>
          <p:cNvSpPr/>
          <p:nvPr/>
        </p:nvSpPr>
        <p:spPr>
          <a:xfrm>
            <a:off x="3849793" y="3510704"/>
            <a:ext cx="4069080" cy="2286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E911D54E-0F9C-500E-1C65-4A60960BE189}"/>
              </a:ext>
            </a:extLst>
          </p:cNvPr>
          <p:cNvSpPr txBox="1"/>
          <p:nvPr/>
        </p:nvSpPr>
        <p:spPr>
          <a:xfrm>
            <a:off x="387772" y="5481770"/>
            <a:ext cx="1078992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200" b="0" dirty="0">
                <a:solidFill>
                  <a:srgbClr val="7D7D7D"/>
                </a:solidFill>
                <a:latin typeface="Calibri"/>
              </a:rPr>
              <a:t>September 2026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6C48F50-661D-D6B7-7BE4-3B03FAFE6719}"/>
              </a:ext>
            </a:extLst>
          </p:cNvPr>
          <p:cNvSpPr txBox="1"/>
          <p:nvPr/>
        </p:nvSpPr>
        <p:spPr>
          <a:xfrm>
            <a:off x="1557867" y="2229781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0000"/>
                </a:solidFill>
                <a:latin typeface="Aptos"/>
              </a:rPr>
              <a:t>SECUREVAULT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0704902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69707AA-321E-9BDC-DF50-A6F9B5FBD8E9}"/>
              </a:ext>
            </a:extLst>
          </p:cNvPr>
          <p:cNvSpPr txBox="1"/>
          <p:nvPr/>
        </p:nvSpPr>
        <p:spPr>
          <a:xfrm>
            <a:off x="609600" y="265176"/>
            <a:ext cx="1097280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2800" b="1" dirty="0">
                <a:solidFill>
                  <a:srgbClr val="000000"/>
                </a:solidFill>
                <a:latin typeface="Aptos"/>
              </a:rPr>
              <a:t>Project Objective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E837F17-5673-4D94-AAB6-A2B263895F50}"/>
              </a:ext>
            </a:extLst>
          </p:cNvPr>
          <p:cNvSpPr/>
          <p:nvPr/>
        </p:nvSpPr>
        <p:spPr>
          <a:xfrm>
            <a:off x="609600" y="877824"/>
            <a:ext cx="1097280" cy="411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2234DF-127F-E4BB-2872-8D451691474A}"/>
              </a:ext>
            </a:extLst>
          </p:cNvPr>
          <p:cNvSpPr txBox="1"/>
          <p:nvPr/>
        </p:nvSpPr>
        <p:spPr>
          <a:xfrm>
            <a:off x="609600" y="996696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300" b="0">
                <a:solidFill>
                  <a:srgbClr val="6E6E6E"/>
                </a:solidFill>
                <a:latin typeface="Aptos"/>
              </a:rPr>
              <a:t>What was demonstrated?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DE2E7F4-0C7D-77A7-1D2A-E9C1A197A15B}"/>
              </a:ext>
            </a:extLst>
          </p:cNvPr>
          <p:cNvSpPr/>
          <p:nvPr/>
        </p:nvSpPr>
        <p:spPr>
          <a:xfrm>
            <a:off x="701040" y="1426464"/>
            <a:ext cx="3474720" cy="1828800"/>
          </a:xfrm>
          <a:prstGeom prst="roundRect">
            <a:avLst/>
          </a:prstGeom>
          <a:solidFill>
            <a:srgbClr val="F5F5F5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B536FB-F754-0D66-ECE7-0E87250C20A6}"/>
              </a:ext>
            </a:extLst>
          </p:cNvPr>
          <p:cNvSpPr txBox="1"/>
          <p:nvPr/>
        </p:nvSpPr>
        <p:spPr>
          <a:xfrm>
            <a:off x="883920" y="1572767"/>
            <a:ext cx="31089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600" b="1">
                <a:solidFill>
                  <a:srgbClr val="000000"/>
                </a:solidFill>
                <a:latin typeface="Aptos"/>
              </a:rPr>
              <a:t>Primary Goal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8F3CF6-6280-FAAD-9819-F85194C74CE6}"/>
              </a:ext>
            </a:extLst>
          </p:cNvPr>
          <p:cNvSpPr txBox="1"/>
          <p:nvPr/>
        </p:nvSpPr>
        <p:spPr>
          <a:xfrm>
            <a:off x="883920" y="1993392"/>
            <a:ext cx="310896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300" b="0">
                <a:solidFill>
                  <a:srgbClr val="232323"/>
                </a:solidFill>
                <a:latin typeface="Aptos"/>
              </a:rPr>
              <a:t>Demonstrate how an unrestricted file-upload feature can become Remote Code Execution when executable PHP files are accepted and stored in the web root.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8ADC16D-FDDE-C364-D2C4-7B550FCB5650}"/>
              </a:ext>
            </a:extLst>
          </p:cNvPr>
          <p:cNvSpPr/>
          <p:nvPr/>
        </p:nvSpPr>
        <p:spPr>
          <a:xfrm>
            <a:off x="4358640" y="1426464"/>
            <a:ext cx="3474720" cy="1828800"/>
          </a:xfrm>
          <a:prstGeom prst="roundRect">
            <a:avLst/>
          </a:prstGeom>
          <a:solidFill>
            <a:srgbClr val="F5F5F5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17A95FC-4B2B-B2BC-CEA3-5C4D28F6F5D5}"/>
              </a:ext>
            </a:extLst>
          </p:cNvPr>
          <p:cNvSpPr txBox="1"/>
          <p:nvPr/>
        </p:nvSpPr>
        <p:spPr>
          <a:xfrm>
            <a:off x="4541520" y="1572767"/>
            <a:ext cx="31089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600" b="1">
                <a:solidFill>
                  <a:srgbClr val="000000"/>
                </a:solidFill>
                <a:latin typeface="Aptos"/>
              </a:rPr>
              <a:t>Lab Goal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6FBCF86-2A82-816D-E686-963CC5EAC6A6}"/>
              </a:ext>
            </a:extLst>
          </p:cNvPr>
          <p:cNvSpPr txBox="1"/>
          <p:nvPr/>
        </p:nvSpPr>
        <p:spPr>
          <a:xfrm>
            <a:off x="4541520" y="1993392"/>
            <a:ext cx="310896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300" b="0">
                <a:solidFill>
                  <a:srgbClr val="232323"/>
                </a:solidFill>
                <a:latin typeface="Aptos"/>
              </a:rPr>
              <a:t>Create a reproducible Docker environment where the complete request → upload → PHP execution → command execution path can be observed.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84FC496-AA6F-C14F-DE08-F98C74D769ED}"/>
              </a:ext>
            </a:extLst>
          </p:cNvPr>
          <p:cNvSpPr/>
          <p:nvPr/>
        </p:nvSpPr>
        <p:spPr>
          <a:xfrm>
            <a:off x="8016240" y="1426464"/>
            <a:ext cx="3474720" cy="1828800"/>
          </a:xfrm>
          <a:prstGeom prst="roundRect">
            <a:avLst/>
          </a:prstGeom>
          <a:solidFill>
            <a:srgbClr val="F5F5F5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4FA053A-F9D0-BE59-D438-6F6DAE07AF21}"/>
              </a:ext>
            </a:extLst>
          </p:cNvPr>
          <p:cNvSpPr txBox="1"/>
          <p:nvPr/>
        </p:nvSpPr>
        <p:spPr>
          <a:xfrm>
            <a:off x="8199120" y="1572767"/>
            <a:ext cx="31089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600" b="1">
                <a:solidFill>
                  <a:srgbClr val="000000"/>
                </a:solidFill>
                <a:latin typeface="Aptos"/>
              </a:rPr>
              <a:t>Security Goal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2371768-7984-9B1F-4F79-6C65F9083BA5}"/>
              </a:ext>
            </a:extLst>
          </p:cNvPr>
          <p:cNvSpPr txBox="1"/>
          <p:nvPr/>
        </p:nvSpPr>
        <p:spPr>
          <a:xfrm>
            <a:off x="8199120" y="1993392"/>
            <a:ext cx="310896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300" b="0">
                <a:solidFill>
                  <a:srgbClr val="232323"/>
                </a:solidFill>
                <a:latin typeface="Aptos"/>
              </a:rPr>
              <a:t>Understand the root cause, prove impact safely, and show how the upload feature should be secured.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E59C18C-402D-E593-9106-C7E9448EFC6A}"/>
              </a:ext>
            </a:extLst>
          </p:cNvPr>
          <p:cNvSpPr txBox="1"/>
          <p:nvPr/>
        </p:nvSpPr>
        <p:spPr>
          <a:xfrm>
            <a:off x="792480" y="3895343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800" b="1">
                <a:solidFill>
                  <a:srgbClr val="000000"/>
                </a:solidFill>
                <a:latin typeface="Aptos"/>
              </a:rPr>
              <a:t>Key statement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3A4FF84-A7CF-D2FF-A134-4DF1D887BA8D}"/>
              </a:ext>
            </a:extLst>
          </p:cNvPr>
          <p:cNvSpPr/>
          <p:nvPr/>
        </p:nvSpPr>
        <p:spPr>
          <a:xfrm>
            <a:off x="792480" y="4398264"/>
            <a:ext cx="10515600" cy="1051560"/>
          </a:xfrm>
          <a:prstGeom prst="rect">
            <a:avLst/>
          </a:prstGeom>
          <a:solidFill>
            <a:srgbClr val="F8F8F8"/>
          </a:solidFill>
          <a:ln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3E03E32-87A0-94E0-0645-7AE918C88D76}"/>
              </a:ext>
            </a:extLst>
          </p:cNvPr>
          <p:cNvSpPr txBox="1"/>
          <p:nvPr/>
        </p:nvSpPr>
        <p:spPr>
          <a:xfrm>
            <a:off x="957072" y="4517136"/>
            <a:ext cx="10186416" cy="8229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900" b="0">
                <a:solidFill>
                  <a:srgbClr val="000000"/>
                </a:solidFill>
                <a:latin typeface="Consolas"/>
              </a:rPr>
              <a:t>Unauthenticated unrestricted upload + executable web-root storage
= controlled PHP server-side execution → RCE</a:t>
            </a:r>
          </a:p>
        </p:txBody>
      </p:sp>
    </p:spTree>
    <p:extLst>
      <p:ext uri="{BB962C8B-B14F-4D97-AF65-F5344CB8AC3E}">
        <p14:creationId xmlns:p14="http://schemas.microsoft.com/office/powerpoint/2010/main" val="38159208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C553845-1659-8DCF-225F-A1AD09C4DE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" y="685800"/>
            <a:ext cx="11226800" cy="561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00750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AFB4734-0914-6AAA-33BA-9EE60772C2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24" y="0"/>
            <a:ext cx="11989951" cy="6747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37518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55D592C-7C5B-2971-2DE7-29F200770425}"/>
              </a:ext>
            </a:extLst>
          </p:cNvPr>
          <p:cNvSpPr txBox="1"/>
          <p:nvPr/>
        </p:nvSpPr>
        <p:spPr>
          <a:xfrm>
            <a:off x="609600" y="265176"/>
            <a:ext cx="1097280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2800" b="1" dirty="0">
                <a:solidFill>
                  <a:srgbClr val="000000"/>
                </a:solidFill>
                <a:latin typeface="Aptos"/>
              </a:rPr>
              <a:t>Security Problem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051F464-F2DA-0CDB-9214-3DA69A1E0005}"/>
              </a:ext>
            </a:extLst>
          </p:cNvPr>
          <p:cNvSpPr/>
          <p:nvPr/>
        </p:nvSpPr>
        <p:spPr>
          <a:xfrm>
            <a:off x="609600" y="877824"/>
            <a:ext cx="1097280" cy="411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5EA83E-866C-3B9A-C5B3-6ACDF7409015}"/>
              </a:ext>
            </a:extLst>
          </p:cNvPr>
          <p:cNvSpPr txBox="1"/>
          <p:nvPr/>
        </p:nvSpPr>
        <p:spPr>
          <a:xfrm>
            <a:off x="609600" y="996696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300" b="0">
                <a:solidFill>
                  <a:srgbClr val="6E6E6E"/>
                </a:solidFill>
                <a:latin typeface="Aptos"/>
              </a:rPr>
              <a:t>Why the upload feature is dangerous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F7DEA7-A069-1D6F-FF4E-6E1B84146536}"/>
              </a:ext>
            </a:extLst>
          </p:cNvPr>
          <p:cNvSpPr txBox="1"/>
          <p:nvPr/>
        </p:nvSpPr>
        <p:spPr>
          <a:xfrm>
            <a:off x="883920" y="1335024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800"/>
              </a:spcAft>
              <a:defRPr sz="1900">
                <a:solidFill>
                  <a:srgbClr val="000000"/>
                </a:solidFill>
                <a:latin typeface="Aptos"/>
              </a:defRPr>
            </a:pPr>
            <a:r>
              <a:t>• The upload API is reachable over the Docker network.</a:t>
            </a:r>
          </a:p>
          <a:p>
            <a:pPr>
              <a:spcAft>
                <a:spcPts val="800"/>
              </a:spcAft>
              <a:defRPr sz="1900">
                <a:solidFill>
                  <a:srgbClr val="000000"/>
                </a:solidFill>
                <a:latin typeface="Aptos"/>
              </a:defRPr>
            </a:pPr>
            <a:r>
              <a:t>• No authentication/authorization check is enforced by the vulnerable API.</a:t>
            </a:r>
          </a:p>
          <a:p>
            <a:pPr>
              <a:spcAft>
                <a:spcPts val="800"/>
              </a:spcAft>
              <a:defRPr sz="1900">
                <a:solidFill>
                  <a:srgbClr val="000000"/>
                </a:solidFill>
                <a:latin typeface="Aptos"/>
              </a:defRPr>
            </a:pPr>
            <a:r>
              <a:t>• No extension allowlist prevents .php uploads.</a:t>
            </a:r>
          </a:p>
          <a:p>
            <a:pPr>
              <a:spcAft>
                <a:spcPts val="800"/>
              </a:spcAft>
              <a:defRPr sz="1900">
                <a:solidFill>
                  <a:srgbClr val="000000"/>
                </a:solidFill>
                <a:latin typeface="Aptos"/>
              </a:defRPr>
            </a:pPr>
            <a:r>
              <a:t>• Uploaded files are stored under /var/www/html/uploads.</a:t>
            </a:r>
          </a:p>
          <a:p>
            <a:pPr>
              <a:spcAft>
                <a:spcPts val="800"/>
              </a:spcAft>
              <a:defRPr sz="1900">
                <a:solidFill>
                  <a:srgbClr val="000000"/>
                </a:solidFill>
                <a:latin typeface="Aptos"/>
              </a:defRPr>
            </a:pPr>
            <a:r>
              <a:t>• Apache/PHP interprets .php files in that directory.</a:t>
            </a:r>
          </a:p>
          <a:p>
            <a:pPr>
              <a:spcAft>
                <a:spcPts val="800"/>
              </a:spcAft>
              <a:defRPr sz="1900">
                <a:solidFill>
                  <a:srgbClr val="000000"/>
                </a:solidFill>
                <a:latin typeface="Aptos"/>
              </a:defRPr>
            </a:pPr>
            <a:r>
              <a:t>• The RCE proof passes attacker-controlled input to PHP system().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D64D5A-8A42-8C0B-7FEB-669C20207D20}"/>
              </a:ext>
            </a:extLst>
          </p:cNvPr>
          <p:cNvSpPr txBox="1"/>
          <p:nvPr/>
        </p:nvSpPr>
        <p:spPr>
          <a:xfrm>
            <a:off x="7833360" y="1335024"/>
            <a:ext cx="3383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600" b="1">
                <a:solidFill>
                  <a:srgbClr val="000000"/>
                </a:solidFill>
                <a:latin typeface="Aptos"/>
              </a:rPr>
              <a:t>Vulnerability chain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21CF56A-8549-D903-A111-EFFC640ACB3B}"/>
              </a:ext>
            </a:extLst>
          </p:cNvPr>
          <p:cNvSpPr/>
          <p:nvPr/>
        </p:nvSpPr>
        <p:spPr>
          <a:xfrm>
            <a:off x="7924799" y="1792223"/>
            <a:ext cx="2926080" cy="393192"/>
          </a:xfrm>
          <a:prstGeom prst="roundRect">
            <a:avLst/>
          </a:prstGeom>
          <a:solidFill>
            <a:srgbClr val="F5F5F5"/>
          </a:solidFill>
          <a:ln w="1778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CCB575-8D6D-5A25-B624-02EB91378845}"/>
              </a:ext>
            </a:extLst>
          </p:cNvPr>
          <p:cNvSpPr txBox="1"/>
          <p:nvPr/>
        </p:nvSpPr>
        <p:spPr>
          <a:xfrm>
            <a:off x="8016239" y="1883664"/>
            <a:ext cx="2743200" cy="21031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400" b="1">
                <a:solidFill>
                  <a:srgbClr val="000000"/>
                </a:solidFill>
                <a:latin typeface="Aptos"/>
              </a:rPr>
              <a:t>Remote input</a:t>
            </a:r>
          </a:p>
        </p:txBody>
      </p:sp>
      <p:cxnSp>
        <p:nvCxnSpPr>
          <p:cNvPr id="9" name="Connector 8">
            <a:extLst>
              <a:ext uri="{FF2B5EF4-FFF2-40B4-BE49-F238E27FC236}">
                <a16:creationId xmlns:a16="http://schemas.microsoft.com/office/drawing/2014/main" id="{8DE31393-D5C0-760B-52D0-1C0F2EE76364}"/>
              </a:ext>
            </a:extLst>
          </p:cNvPr>
          <p:cNvCxnSpPr/>
          <p:nvPr/>
        </p:nvCxnSpPr>
        <p:spPr>
          <a:xfrm>
            <a:off x="9387840" y="2185416"/>
            <a:ext cx="0" cy="182879"/>
          </a:xfrm>
          <a:prstGeom prst="line">
            <a:avLst/>
          </a:prstGeom>
          <a:ln w="228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37CD1819-E3AD-551C-5E73-622444CFBC2F}"/>
              </a:ext>
            </a:extLst>
          </p:cNvPr>
          <p:cNvSpPr/>
          <p:nvPr/>
        </p:nvSpPr>
        <p:spPr>
          <a:xfrm>
            <a:off x="7924799" y="2386583"/>
            <a:ext cx="2926080" cy="393192"/>
          </a:xfrm>
          <a:prstGeom prst="roundRect">
            <a:avLst/>
          </a:prstGeom>
          <a:solidFill>
            <a:srgbClr val="F5F5F5"/>
          </a:solidFill>
          <a:ln w="1778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386AC39-22CB-1AD9-4397-41E3056A492F}"/>
              </a:ext>
            </a:extLst>
          </p:cNvPr>
          <p:cNvSpPr txBox="1"/>
          <p:nvPr/>
        </p:nvSpPr>
        <p:spPr>
          <a:xfrm>
            <a:off x="8016239" y="2478024"/>
            <a:ext cx="2743200" cy="21031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400" b="1">
                <a:solidFill>
                  <a:srgbClr val="000000"/>
                </a:solidFill>
                <a:latin typeface="Aptos"/>
              </a:rPr>
              <a:t>File upload</a:t>
            </a:r>
          </a:p>
        </p:txBody>
      </p:sp>
      <p:cxnSp>
        <p:nvCxnSpPr>
          <p:cNvPr id="12" name="Connector 11">
            <a:extLst>
              <a:ext uri="{FF2B5EF4-FFF2-40B4-BE49-F238E27FC236}">
                <a16:creationId xmlns:a16="http://schemas.microsoft.com/office/drawing/2014/main" id="{778E43CF-FCDD-1344-6305-D3C896334F82}"/>
              </a:ext>
            </a:extLst>
          </p:cNvPr>
          <p:cNvCxnSpPr/>
          <p:nvPr/>
        </p:nvCxnSpPr>
        <p:spPr>
          <a:xfrm>
            <a:off x="9387840" y="2779776"/>
            <a:ext cx="0" cy="182879"/>
          </a:xfrm>
          <a:prstGeom prst="line">
            <a:avLst/>
          </a:prstGeom>
          <a:ln w="228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3BC9AD4-9BC7-23D8-E7D4-3D2C76E21935}"/>
              </a:ext>
            </a:extLst>
          </p:cNvPr>
          <p:cNvSpPr/>
          <p:nvPr/>
        </p:nvSpPr>
        <p:spPr>
          <a:xfrm>
            <a:off x="7924799" y="2980943"/>
            <a:ext cx="2926080" cy="393192"/>
          </a:xfrm>
          <a:prstGeom prst="roundRect">
            <a:avLst/>
          </a:prstGeom>
          <a:solidFill>
            <a:srgbClr val="F5F5F5"/>
          </a:solidFill>
          <a:ln w="1778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6B08B28-D389-79EE-2A0B-E098C8B26B46}"/>
              </a:ext>
            </a:extLst>
          </p:cNvPr>
          <p:cNvSpPr txBox="1"/>
          <p:nvPr/>
        </p:nvSpPr>
        <p:spPr>
          <a:xfrm>
            <a:off x="8016239" y="3072383"/>
            <a:ext cx="2743200" cy="21031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400" b="1">
                <a:solidFill>
                  <a:srgbClr val="000000"/>
                </a:solidFill>
                <a:latin typeface="Aptos"/>
              </a:rPr>
              <a:t>.php accepted</a:t>
            </a:r>
          </a:p>
        </p:txBody>
      </p:sp>
      <p:cxnSp>
        <p:nvCxnSpPr>
          <p:cNvPr id="15" name="Connector 14">
            <a:extLst>
              <a:ext uri="{FF2B5EF4-FFF2-40B4-BE49-F238E27FC236}">
                <a16:creationId xmlns:a16="http://schemas.microsoft.com/office/drawing/2014/main" id="{6BC27BC6-8972-8456-7AFD-7763F7B4CB11}"/>
              </a:ext>
            </a:extLst>
          </p:cNvPr>
          <p:cNvCxnSpPr/>
          <p:nvPr/>
        </p:nvCxnSpPr>
        <p:spPr>
          <a:xfrm>
            <a:off x="9387840" y="3374136"/>
            <a:ext cx="0" cy="182879"/>
          </a:xfrm>
          <a:prstGeom prst="line">
            <a:avLst/>
          </a:prstGeom>
          <a:ln w="228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6322F330-16BD-D0DC-CB62-444B2C3C5BA7}"/>
              </a:ext>
            </a:extLst>
          </p:cNvPr>
          <p:cNvSpPr/>
          <p:nvPr/>
        </p:nvSpPr>
        <p:spPr>
          <a:xfrm>
            <a:off x="7924799" y="3575304"/>
            <a:ext cx="2926080" cy="393192"/>
          </a:xfrm>
          <a:prstGeom prst="roundRect">
            <a:avLst/>
          </a:prstGeom>
          <a:solidFill>
            <a:srgbClr val="F5F5F5"/>
          </a:solidFill>
          <a:ln w="1778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941ED3B-4AB6-8031-20A3-D42853509ED9}"/>
              </a:ext>
            </a:extLst>
          </p:cNvPr>
          <p:cNvSpPr txBox="1"/>
          <p:nvPr/>
        </p:nvSpPr>
        <p:spPr>
          <a:xfrm>
            <a:off x="8016239" y="3666743"/>
            <a:ext cx="2743200" cy="21031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400" b="1">
                <a:solidFill>
                  <a:srgbClr val="000000"/>
                </a:solidFill>
                <a:latin typeface="Aptos"/>
              </a:rPr>
              <a:t>Web-root storage</a:t>
            </a:r>
          </a:p>
        </p:txBody>
      </p:sp>
      <p:cxnSp>
        <p:nvCxnSpPr>
          <p:cNvPr id="18" name="Connector 17">
            <a:extLst>
              <a:ext uri="{FF2B5EF4-FFF2-40B4-BE49-F238E27FC236}">
                <a16:creationId xmlns:a16="http://schemas.microsoft.com/office/drawing/2014/main" id="{066B4E7A-009A-157F-1417-71775A2E2DBB}"/>
              </a:ext>
            </a:extLst>
          </p:cNvPr>
          <p:cNvCxnSpPr/>
          <p:nvPr/>
        </p:nvCxnSpPr>
        <p:spPr>
          <a:xfrm>
            <a:off x="9387840" y="3968495"/>
            <a:ext cx="0" cy="182881"/>
          </a:xfrm>
          <a:prstGeom prst="line">
            <a:avLst/>
          </a:prstGeom>
          <a:ln w="228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FDF35C4F-67DD-8CAD-9B25-9FF3A02E5546}"/>
              </a:ext>
            </a:extLst>
          </p:cNvPr>
          <p:cNvSpPr/>
          <p:nvPr/>
        </p:nvSpPr>
        <p:spPr>
          <a:xfrm>
            <a:off x="7924799" y="4169664"/>
            <a:ext cx="2926080" cy="393192"/>
          </a:xfrm>
          <a:prstGeom prst="roundRect">
            <a:avLst/>
          </a:prstGeom>
          <a:solidFill>
            <a:srgbClr val="F5F5F5"/>
          </a:solidFill>
          <a:ln w="1778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9B90C56-245A-F902-3ACF-F2CC1213554E}"/>
              </a:ext>
            </a:extLst>
          </p:cNvPr>
          <p:cNvSpPr txBox="1"/>
          <p:nvPr/>
        </p:nvSpPr>
        <p:spPr>
          <a:xfrm>
            <a:off x="8016239" y="4261104"/>
            <a:ext cx="2743200" cy="21031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400" b="1">
                <a:solidFill>
                  <a:srgbClr val="000000"/>
                </a:solidFill>
                <a:latin typeface="Aptos"/>
              </a:rPr>
              <a:t>PHP execution</a:t>
            </a:r>
          </a:p>
        </p:txBody>
      </p:sp>
      <p:cxnSp>
        <p:nvCxnSpPr>
          <p:cNvPr id="21" name="Connector 20">
            <a:extLst>
              <a:ext uri="{FF2B5EF4-FFF2-40B4-BE49-F238E27FC236}">
                <a16:creationId xmlns:a16="http://schemas.microsoft.com/office/drawing/2014/main" id="{26C22B34-C45F-A5DA-8017-161F608F5A6F}"/>
              </a:ext>
            </a:extLst>
          </p:cNvPr>
          <p:cNvCxnSpPr/>
          <p:nvPr/>
        </p:nvCxnSpPr>
        <p:spPr>
          <a:xfrm>
            <a:off x="9387840" y="4562856"/>
            <a:ext cx="0" cy="182880"/>
          </a:xfrm>
          <a:prstGeom prst="line">
            <a:avLst/>
          </a:prstGeom>
          <a:ln w="228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91D05A8F-661D-FFC5-176D-239608A93D61}"/>
              </a:ext>
            </a:extLst>
          </p:cNvPr>
          <p:cNvSpPr/>
          <p:nvPr/>
        </p:nvSpPr>
        <p:spPr>
          <a:xfrm>
            <a:off x="7924799" y="4764024"/>
            <a:ext cx="2926080" cy="39319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97E6E3D-AB07-67FB-8527-AC3749A2E31D}"/>
              </a:ext>
            </a:extLst>
          </p:cNvPr>
          <p:cNvSpPr txBox="1"/>
          <p:nvPr/>
        </p:nvSpPr>
        <p:spPr>
          <a:xfrm>
            <a:off x="8016239" y="4855463"/>
            <a:ext cx="2743200" cy="21031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400" b="1">
                <a:solidFill>
                  <a:srgbClr val="000000"/>
                </a:solidFill>
                <a:latin typeface="Aptos"/>
              </a:rPr>
              <a:t>OS command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ABC590A-8818-4117-CD45-5C3E4D832FD4}"/>
              </a:ext>
            </a:extLst>
          </p:cNvPr>
          <p:cNvSpPr txBox="1"/>
          <p:nvPr/>
        </p:nvSpPr>
        <p:spPr>
          <a:xfrm>
            <a:off x="11033760" y="635508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sz="900" b="1" dirty="0">
                <a:solidFill>
                  <a:srgbClr val="000000"/>
                </a:solidFill>
                <a:latin typeface="Aptos"/>
              </a:rPr>
              <a:t>4</a:t>
            </a:r>
            <a:r>
              <a:rPr lang="en-US" sz="900" b="1" dirty="0">
                <a:solidFill>
                  <a:srgbClr val="000000"/>
                </a:solidFill>
                <a:latin typeface="Aptos"/>
              </a:rPr>
              <a:t>+</a:t>
            </a:r>
            <a:endParaRPr sz="900" b="1" dirty="0">
              <a:solidFill>
                <a:srgbClr val="000000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1437787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EE798B7-7FD5-4BE4-3A8E-12C716EEAA1E}"/>
              </a:ext>
            </a:extLst>
          </p:cNvPr>
          <p:cNvSpPr txBox="1"/>
          <p:nvPr/>
        </p:nvSpPr>
        <p:spPr>
          <a:xfrm>
            <a:off x="609600" y="265176"/>
            <a:ext cx="1097280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2800" b="1" dirty="0">
                <a:solidFill>
                  <a:srgbClr val="000000"/>
                </a:solidFill>
                <a:latin typeface="Aptos"/>
              </a:rPr>
              <a:t>Technologies Used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C37E36-E41D-CD7C-B051-C0E31F34396A}"/>
              </a:ext>
            </a:extLst>
          </p:cNvPr>
          <p:cNvSpPr txBox="1"/>
          <p:nvPr/>
        </p:nvSpPr>
        <p:spPr>
          <a:xfrm>
            <a:off x="609600" y="996696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300" b="0">
                <a:solidFill>
                  <a:srgbClr val="6E6E6E"/>
                </a:solidFill>
                <a:latin typeface="Aptos"/>
              </a:rPr>
              <a:t>Components that make the lab reproducible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3F3120-E62C-4682-C00F-D0F525FC0ECA}"/>
              </a:ext>
            </a:extLst>
          </p:cNvPr>
          <p:cNvSpPr txBox="1"/>
          <p:nvPr/>
        </p:nvSpPr>
        <p:spPr>
          <a:xfrm>
            <a:off x="792480" y="1335024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600" b="1">
                <a:solidFill>
                  <a:srgbClr val="000000"/>
                </a:solidFill>
                <a:latin typeface="Aptos"/>
              </a:rPr>
              <a:t>Docker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2D4F8B-F74E-C5FE-8897-83C00A6ED448}"/>
              </a:ext>
            </a:extLst>
          </p:cNvPr>
          <p:cNvSpPr txBox="1"/>
          <p:nvPr/>
        </p:nvSpPr>
        <p:spPr>
          <a:xfrm>
            <a:off x="3444240" y="1335024"/>
            <a:ext cx="7223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500" b="0">
                <a:solidFill>
                  <a:srgbClr val="232323"/>
                </a:solidFill>
                <a:latin typeface="Aptos"/>
              </a:rPr>
              <a:t>Container isolation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D6F2208-30B6-4191-C92B-65991EFE4AB6}"/>
              </a:ext>
            </a:extLst>
          </p:cNvPr>
          <p:cNvSpPr/>
          <p:nvPr/>
        </p:nvSpPr>
        <p:spPr>
          <a:xfrm>
            <a:off x="792480" y="1773936"/>
            <a:ext cx="987552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32F3C9-2E44-4013-6228-7594A3AF2374}"/>
              </a:ext>
            </a:extLst>
          </p:cNvPr>
          <p:cNvSpPr txBox="1"/>
          <p:nvPr/>
        </p:nvSpPr>
        <p:spPr>
          <a:xfrm>
            <a:off x="792480" y="2048256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600" b="1">
                <a:solidFill>
                  <a:srgbClr val="000000"/>
                </a:solidFill>
                <a:latin typeface="Aptos"/>
              </a:rPr>
              <a:t>Docker Compose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687C99-5D3C-1CE6-4E15-5B9423E1F251}"/>
              </a:ext>
            </a:extLst>
          </p:cNvPr>
          <p:cNvSpPr txBox="1"/>
          <p:nvPr/>
        </p:nvSpPr>
        <p:spPr>
          <a:xfrm>
            <a:off x="3444240" y="2048256"/>
            <a:ext cx="7223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500" b="0">
                <a:solidFill>
                  <a:srgbClr val="232323"/>
                </a:solidFill>
                <a:latin typeface="Aptos"/>
              </a:rPr>
              <a:t>Multi-service orchestration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706D45-452B-FEB6-75A8-6D464135BB3F}"/>
              </a:ext>
            </a:extLst>
          </p:cNvPr>
          <p:cNvSpPr/>
          <p:nvPr/>
        </p:nvSpPr>
        <p:spPr>
          <a:xfrm>
            <a:off x="792480" y="2487168"/>
            <a:ext cx="987552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0851B92-267A-F0BB-4C62-B2E62E092B0A}"/>
              </a:ext>
            </a:extLst>
          </p:cNvPr>
          <p:cNvSpPr txBox="1"/>
          <p:nvPr/>
        </p:nvSpPr>
        <p:spPr>
          <a:xfrm>
            <a:off x="792480" y="2761488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600" b="1">
                <a:solidFill>
                  <a:srgbClr val="000000"/>
                </a:solidFill>
                <a:latin typeface="Aptos"/>
              </a:rPr>
              <a:t>Apache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BB7CC4D-D95C-FC2B-E5F7-A527FDCC7489}"/>
              </a:ext>
            </a:extLst>
          </p:cNvPr>
          <p:cNvSpPr txBox="1"/>
          <p:nvPr/>
        </p:nvSpPr>
        <p:spPr>
          <a:xfrm>
            <a:off x="3444240" y="2761488"/>
            <a:ext cx="7223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500" b="0">
                <a:solidFill>
                  <a:srgbClr val="232323"/>
                </a:solidFill>
                <a:latin typeface="Aptos"/>
              </a:rPr>
              <a:t>HTTP web server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53E8A74-3315-7B3C-726F-28206F4F3C47}"/>
              </a:ext>
            </a:extLst>
          </p:cNvPr>
          <p:cNvSpPr/>
          <p:nvPr/>
        </p:nvSpPr>
        <p:spPr>
          <a:xfrm>
            <a:off x="792480" y="3200400"/>
            <a:ext cx="987552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24C72C8-593E-3E18-B253-FA7E13AAE21E}"/>
              </a:ext>
            </a:extLst>
          </p:cNvPr>
          <p:cNvSpPr txBox="1"/>
          <p:nvPr/>
        </p:nvSpPr>
        <p:spPr>
          <a:xfrm>
            <a:off x="792480" y="3474719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600" b="1">
                <a:solidFill>
                  <a:srgbClr val="000000"/>
                </a:solidFill>
                <a:latin typeface="Aptos"/>
              </a:rPr>
              <a:t>PHP 8.2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A0EEEF3-EA8D-5528-D97E-2C0F9FEF8A8D}"/>
              </a:ext>
            </a:extLst>
          </p:cNvPr>
          <p:cNvSpPr txBox="1"/>
          <p:nvPr/>
        </p:nvSpPr>
        <p:spPr>
          <a:xfrm>
            <a:off x="3444240" y="3474719"/>
            <a:ext cx="7223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500" b="0">
                <a:solidFill>
                  <a:srgbClr val="232323"/>
                </a:solidFill>
                <a:latin typeface="Aptos"/>
              </a:rPr>
              <a:t>Server-side execution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403F6D-8326-530A-9EB7-A3B2F7C73AF2}"/>
              </a:ext>
            </a:extLst>
          </p:cNvPr>
          <p:cNvSpPr/>
          <p:nvPr/>
        </p:nvSpPr>
        <p:spPr>
          <a:xfrm>
            <a:off x="792480" y="3913631"/>
            <a:ext cx="987552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83703F4-3F92-5BF4-E6CC-BAB30D5BE856}"/>
              </a:ext>
            </a:extLst>
          </p:cNvPr>
          <p:cNvSpPr txBox="1"/>
          <p:nvPr/>
        </p:nvSpPr>
        <p:spPr>
          <a:xfrm>
            <a:off x="792480" y="4187952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600" b="1">
                <a:solidFill>
                  <a:srgbClr val="000000"/>
                </a:solidFill>
                <a:latin typeface="Aptos"/>
              </a:rPr>
              <a:t>curl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2F878CF-BBCE-7972-10AB-0B475EFAF528}"/>
              </a:ext>
            </a:extLst>
          </p:cNvPr>
          <p:cNvSpPr txBox="1"/>
          <p:nvPr/>
        </p:nvSpPr>
        <p:spPr>
          <a:xfrm>
            <a:off x="3444240" y="4187952"/>
            <a:ext cx="7223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500" b="0">
                <a:solidFill>
                  <a:srgbClr val="232323"/>
                </a:solidFill>
                <a:latin typeface="Aptos"/>
              </a:rPr>
              <a:t>HTTP testing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34DE1DC-7FFC-A5EC-FA42-BFD48EE0D683}"/>
              </a:ext>
            </a:extLst>
          </p:cNvPr>
          <p:cNvSpPr/>
          <p:nvPr/>
        </p:nvSpPr>
        <p:spPr>
          <a:xfrm>
            <a:off x="792480" y="4626864"/>
            <a:ext cx="987552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B075D46-D150-D29B-9E08-6068E9CA0CCA}"/>
              </a:ext>
            </a:extLst>
          </p:cNvPr>
          <p:cNvSpPr txBox="1"/>
          <p:nvPr/>
        </p:nvSpPr>
        <p:spPr>
          <a:xfrm>
            <a:off x="792480" y="4901184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600" b="1">
                <a:solidFill>
                  <a:srgbClr val="000000"/>
                </a:solidFill>
                <a:latin typeface="Aptos"/>
              </a:rPr>
              <a:t>Docker bridge network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88EF4AC-46ED-C6D5-C56A-0D42E7379041}"/>
              </a:ext>
            </a:extLst>
          </p:cNvPr>
          <p:cNvSpPr txBox="1"/>
          <p:nvPr/>
        </p:nvSpPr>
        <p:spPr>
          <a:xfrm>
            <a:off x="3444240" y="4901184"/>
            <a:ext cx="7223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500" b="0">
                <a:solidFill>
                  <a:srgbClr val="232323"/>
                </a:solidFill>
                <a:latin typeface="Aptos"/>
              </a:rPr>
              <a:t>Private service communication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893C8DD-54D0-3095-C356-3F9A6394450E}"/>
              </a:ext>
            </a:extLst>
          </p:cNvPr>
          <p:cNvSpPr/>
          <p:nvPr/>
        </p:nvSpPr>
        <p:spPr>
          <a:xfrm>
            <a:off x="792480" y="5340096"/>
            <a:ext cx="987552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6702534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D6EA294-32D9-7C72-A130-FA6EC2CE71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8650" y="650240"/>
            <a:ext cx="9097430" cy="5326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2790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1EA0195-0A4A-2715-5E20-63D47658AD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57" r="25942"/>
          <a:stretch>
            <a:fillRect/>
          </a:stretch>
        </p:blipFill>
        <p:spPr>
          <a:xfrm>
            <a:off x="194732" y="1154543"/>
            <a:ext cx="4394200" cy="454891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511295A-278C-3245-61A7-A3EA10AB70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9933"/>
          <a:stretch>
            <a:fillRect/>
          </a:stretch>
        </p:blipFill>
        <p:spPr>
          <a:xfrm>
            <a:off x="5132500" y="4694493"/>
            <a:ext cx="6797033" cy="174255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B34BE19-C4CB-49C0-55A0-CA5DBE0005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2609" y="852757"/>
            <a:ext cx="7224659" cy="3685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0753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3C30FC3-AA2D-A228-4DC4-125F1CAB1310}"/>
              </a:ext>
            </a:extLst>
          </p:cNvPr>
          <p:cNvSpPr txBox="1"/>
          <p:nvPr/>
        </p:nvSpPr>
        <p:spPr>
          <a:xfrm>
            <a:off x="127000" y="214206"/>
            <a:ext cx="1097280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800" b="1" dirty="0">
                <a:solidFill>
                  <a:srgbClr val="000000"/>
                </a:solidFill>
                <a:latin typeface="Aptos"/>
              </a:rPr>
              <a:t>    </a:t>
            </a:r>
            <a:r>
              <a:rPr sz="2800" b="1" dirty="0">
                <a:solidFill>
                  <a:srgbClr val="000000"/>
                </a:solidFill>
                <a:latin typeface="Aptos"/>
              </a:rPr>
              <a:t>RCE Proof File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F8E48A-2DCF-3397-7D42-B84214A971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5280"/>
          <a:stretch>
            <a:fillRect/>
          </a:stretch>
        </p:blipFill>
        <p:spPr>
          <a:xfrm>
            <a:off x="535940" y="741911"/>
            <a:ext cx="5011419" cy="5956345"/>
          </a:xfrm>
          <a:prstGeom prst="rect">
            <a:avLst/>
          </a:prstGeom>
        </p:spPr>
      </p:pic>
      <p:sp>
        <p:nvSpPr>
          <p:cNvPr id="6" name="TextBox 3">
            <a:extLst>
              <a:ext uri="{FF2B5EF4-FFF2-40B4-BE49-F238E27FC236}">
                <a16:creationId xmlns:a16="http://schemas.microsoft.com/office/drawing/2014/main" id="{3552DBDB-4CB7-A03E-63F2-A46FBC8B7404}"/>
              </a:ext>
            </a:extLst>
          </p:cNvPr>
          <p:cNvSpPr txBox="1"/>
          <p:nvPr/>
        </p:nvSpPr>
        <p:spPr>
          <a:xfrm>
            <a:off x="6280573" y="367453"/>
            <a:ext cx="3742993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300" b="0">
                <a:solidFill>
                  <a:srgbClr val="6E6E6E"/>
                </a:solidFill>
                <a:latin typeface="Aptos"/>
              </a:rPr>
              <a:t>Controlled command execution proof</a:t>
            </a:r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3B7DC92B-D382-B70A-08C1-D4BE59BE5DA0}"/>
              </a:ext>
            </a:extLst>
          </p:cNvPr>
          <p:cNvSpPr txBox="1"/>
          <p:nvPr/>
        </p:nvSpPr>
        <p:spPr>
          <a:xfrm>
            <a:off x="6424845" y="741911"/>
            <a:ext cx="6071616" cy="3154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600" b="0">
                <a:solidFill>
                  <a:srgbClr val="000000"/>
                </a:solidFill>
                <a:latin typeface="Consolas"/>
              </a:rPr>
              <a:t>&lt;?php
if (isset($_GET['cmd'])) {
    echo "&lt;pre&gt;";
    system($_GET['cmd']);
    echo "&lt;/pre&gt;";
} else {
    echo "SecureVault RCE proof";
}
?&gt;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11F947-1592-CF63-FAED-83ECAD3FEA1B}"/>
              </a:ext>
            </a:extLst>
          </p:cNvPr>
          <p:cNvSpPr txBox="1"/>
          <p:nvPr/>
        </p:nvSpPr>
        <p:spPr>
          <a:xfrm>
            <a:off x="6992499" y="3662391"/>
            <a:ext cx="3000587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600" b="1">
                <a:solidFill>
                  <a:srgbClr val="000000"/>
                </a:solidFill>
                <a:latin typeface="Aptos"/>
              </a:rPr>
              <a:t>Input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768EC9-0939-CFD7-0D78-EC4AC0AAE360}"/>
              </a:ext>
            </a:extLst>
          </p:cNvPr>
          <p:cNvSpPr txBox="1"/>
          <p:nvPr/>
        </p:nvSpPr>
        <p:spPr>
          <a:xfrm>
            <a:off x="6992499" y="4083016"/>
            <a:ext cx="3000587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300" b="0" dirty="0">
                <a:solidFill>
                  <a:srgbClr val="232323"/>
                </a:solidFill>
                <a:latin typeface="Aptos"/>
              </a:rPr>
              <a:t>?</a:t>
            </a:r>
            <a:r>
              <a:rPr sz="1300" b="0" dirty="0" err="1">
                <a:solidFill>
                  <a:srgbClr val="232323"/>
                </a:solidFill>
                <a:latin typeface="Aptos"/>
              </a:rPr>
              <a:t>cmd</a:t>
            </a:r>
            <a:r>
              <a:rPr sz="1300" b="0" dirty="0">
                <a:solidFill>
                  <a:srgbClr val="232323"/>
                </a:solidFill>
                <a:latin typeface="Aptos"/>
              </a:rPr>
              <a:t>=</a:t>
            </a:r>
            <a:r>
              <a:rPr sz="1300" b="0" dirty="0" err="1">
                <a:solidFill>
                  <a:srgbClr val="232323"/>
                </a:solidFill>
                <a:latin typeface="Aptos"/>
              </a:rPr>
              <a:t>whoami</a:t>
            </a:r>
            <a:endParaRPr sz="1300" b="0" dirty="0">
              <a:solidFill>
                <a:srgbClr val="232323"/>
              </a:solidFill>
              <a:latin typeface="Aptos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BC5F0B43-94C5-5D07-53CB-A5B7DC38C603}"/>
              </a:ext>
            </a:extLst>
          </p:cNvPr>
          <p:cNvSpPr txBox="1"/>
          <p:nvPr/>
        </p:nvSpPr>
        <p:spPr>
          <a:xfrm>
            <a:off x="7022979" y="4503640"/>
            <a:ext cx="3000587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600" b="1">
                <a:solidFill>
                  <a:srgbClr val="000000"/>
                </a:solidFill>
                <a:latin typeface="Aptos"/>
              </a:rPr>
              <a:t>Execution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00E54237-D44B-59E3-FDE9-2D078D73E3AF}"/>
              </a:ext>
            </a:extLst>
          </p:cNvPr>
          <p:cNvSpPr txBox="1"/>
          <p:nvPr/>
        </p:nvSpPr>
        <p:spPr>
          <a:xfrm>
            <a:off x="7022979" y="4924264"/>
            <a:ext cx="3000587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300" b="0">
                <a:solidFill>
                  <a:srgbClr val="232323"/>
                </a:solidFill>
                <a:latin typeface="Aptos"/>
              </a:rPr>
              <a:t>PHP system()</a:t>
            </a:r>
          </a:p>
        </p:txBody>
      </p:sp>
      <p:sp>
        <p:nvSpPr>
          <p:cNvPr id="12" name="TextBox 13">
            <a:extLst>
              <a:ext uri="{FF2B5EF4-FFF2-40B4-BE49-F238E27FC236}">
                <a16:creationId xmlns:a16="http://schemas.microsoft.com/office/drawing/2014/main" id="{44139DD8-0FEB-1F16-8399-E4A8C22007C5}"/>
              </a:ext>
            </a:extLst>
          </p:cNvPr>
          <p:cNvSpPr txBox="1"/>
          <p:nvPr/>
        </p:nvSpPr>
        <p:spPr>
          <a:xfrm>
            <a:off x="7022979" y="5403077"/>
            <a:ext cx="3000587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600" b="1" dirty="0">
                <a:solidFill>
                  <a:srgbClr val="000000"/>
                </a:solidFill>
                <a:latin typeface="Aptos"/>
              </a:rPr>
              <a:t>Result</a:t>
            </a:r>
          </a:p>
        </p:txBody>
      </p:sp>
      <p:sp>
        <p:nvSpPr>
          <p:cNvPr id="13" name="TextBox 14">
            <a:extLst>
              <a:ext uri="{FF2B5EF4-FFF2-40B4-BE49-F238E27FC236}">
                <a16:creationId xmlns:a16="http://schemas.microsoft.com/office/drawing/2014/main" id="{AAF7DC66-0E29-2776-4BB2-86856D4FB34E}"/>
              </a:ext>
            </a:extLst>
          </p:cNvPr>
          <p:cNvSpPr txBox="1"/>
          <p:nvPr/>
        </p:nvSpPr>
        <p:spPr>
          <a:xfrm>
            <a:off x="7022979" y="5823701"/>
            <a:ext cx="3000587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300" b="0" dirty="0">
                <a:solidFill>
                  <a:srgbClr val="232323"/>
                </a:solidFill>
                <a:latin typeface="Aptos"/>
              </a:rPr>
              <a:t>Command output over HTTP</a:t>
            </a:r>
          </a:p>
        </p:txBody>
      </p:sp>
    </p:spTree>
    <p:extLst>
      <p:ext uri="{BB962C8B-B14F-4D97-AF65-F5344CB8AC3E}">
        <p14:creationId xmlns:p14="http://schemas.microsoft.com/office/powerpoint/2010/main" val="31414184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2B02FB5-D436-5875-4BE1-837F3825684C}"/>
              </a:ext>
            </a:extLst>
          </p:cNvPr>
          <p:cNvSpPr txBox="1"/>
          <p:nvPr/>
        </p:nvSpPr>
        <p:spPr>
          <a:xfrm>
            <a:off x="609600" y="265176"/>
            <a:ext cx="1097280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2800" b="1" dirty="0">
                <a:solidFill>
                  <a:srgbClr val="000000"/>
                </a:solidFill>
                <a:latin typeface="Aptos"/>
              </a:rPr>
              <a:t>Who Is Executing the Command?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72EE62-6BC6-A74E-DE5A-69D1ED32DBEC}"/>
              </a:ext>
            </a:extLst>
          </p:cNvPr>
          <p:cNvSpPr/>
          <p:nvPr/>
        </p:nvSpPr>
        <p:spPr>
          <a:xfrm>
            <a:off x="609600" y="877824"/>
            <a:ext cx="1097280" cy="411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D77A60-DA51-E350-9F74-E56E5142B317}"/>
              </a:ext>
            </a:extLst>
          </p:cNvPr>
          <p:cNvSpPr txBox="1"/>
          <p:nvPr/>
        </p:nvSpPr>
        <p:spPr>
          <a:xfrm>
            <a:off x="609600" y="996696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300" b="0">
                <a:solidFill>
                  <a:srgbClr val="6E6E6E"/>
                </a:solidFill>
                <a:latin typeface="Aptos"/>
              </a:rPr>
              <a:t>The server-side process runs as the web-server account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3974A16-B050-652E-8A2D-8E3D76A58BBD}"/>
              </a:ext>
            </a:extLst>
          </p:cNvPr>
          <p:cNvSpPr/>
          <p:nvPr/>
        </p:nvSpPr>
        <p:spPr>
          <a:xfrm>
            <a:off x="883920" y="1746504"/>
            <a:ext cx="2743200" cy="11887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51A2A6-636C-B551-63CD-18F9DBBC49CE}"/>
              </a:ext>
            </a:extLst>
          </p:cNvPr>
          <p:cNvSpPr txBox="1"/>
          <p:nvPr/>
        </p:nvSpPr>
        <p:spPr>
          <a:xfrm>
            <a:off x="975360" y="1837944"/>
            <a:ext cx="256032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400" b="1">
                <a:solidFill>
                  <a:srgbClr val="000000"/>
                </a:solidFill>
                <a:latin typeface="Aptos"/>
              </a:rPr>
              <a:t>HTTP request
from attacker</a:t>
            </a:r>
          </a:p>
        </p:txBody>
      </p:sp>
      <p:cxnSp>
        <p:nvCxnSpPr>
          <p:cNvPr id="7" name="Connector 6">
            <a:extLst>
              <a:ext uri="{FF2B5EF4-FFF2-40B4-BE49-F238E27FC236}">
                <a16:creationId xmlns:a16="http://schemas.microsoft.com/office/drawing/2014/main" id="{725675C6-3DDF-DD21-8501-CE8C2EBAD77A}"/>
              </a:ext>
            </a:extLst>
          </p:cNvPr>
          <p:cNvCxnSpPr/>
          <p:nvPr/>
        </p:nvCxnSpPr>
        <p:spPr>
          <a:xfrm>
            <a:off x="3627120" y="2340864"/>
            <a:ext cx="1143000" cy="0"/>
          </a:xfrm>
          <a:prstGeom prst="line">
            <a:avLst/>
          </a:prstGeom>
          <a:ln w="228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FA4C707-838F-D9A3-82C4-9DA37929A53E}"/>
              </a:ext>
            </a:extLst>
          </p:cNvPr>
          <p:cNvSpPr/>
          <p:nvPr/>
        </p:nvSpPr>
        <p:spPr>
          <a:xfrm>
            <a:off x="4815840" y="1746504"/>
            <a:ext cx="2743200" cy="11887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802724-E4DC-8ADE-A3F1-4F5C67A1E1FA}"/>
              </a:ext>
            </a:extLst>
          </p:cNvPr>
          <p:cNvSpPr txBox="1"/>
          <p:nvPr/>
        </p:nvSpPr>
        <p:spPr>
          <a:xfrm>
            <a:off x="4907279" y="1837944"/>
            <a:ext cx="256032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400" b="1">
                <a:solidFill>
                  <a:srgbClr val="000000"/>
                </a:solidFill>
                <a:latin typeface="Aptos"/>
              </a:rPr>
              <a:t>Apache / PHP
www-data</a:t>
            </a:r>
          </a:p>
        </p:txBody>
      </p:sp>
      <p:cxnSp>
        <p:nvCxnSpPr>
          <p:cNvPr id="10" name="Connector 9">
            <a:extLst>
              <a:ext uri="{FF2B5EF4-FFF2-40B4-BE49-F238E27FC236}">
                <a16:creationId xmlns:a16="http://schemas.microsoft.com/office/drawing/2014/main" id="{73F5BCE2-692A-67E5-4396-FF7D52F91BB1}"/>
              </a:ext>
            </a:extLst>
          </p:cNvPr>
          <p:cNvCxnSpPr/>
          <p:nvPr/>
        </p:nvCxnSpPr>
        <p:spPr>
          <a:xfrm>
            <a:off x="7559040" y="2340864"/>
            <a:ext cx="1143000" cy="0"/>
          </a:xfrm>
          <a:prstGeom prst="line">
            <a:avLst/>
          </a:prstGeom>
          <a:ln w="228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5D0C4584-344B-3DBC-1AB3-C03AADF177D7}"/>
              </a:ext>
            </a:extLst>
          </p:cNvPr>
          <p:cNvSpPr/>
          <p:nvPr/>
        </p:nvSpPr>
        <p:spPr>
          <a:xfrm>
            <a:off x="8747760" y="1746504"/>
            <a:ext cx="2468880" cy="11887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E19251A-E42D-FC00-AFEE-6D1014B6FD67}"/>
              </a:ext>
            </a:extLst>
          </p:cNvPr>
          <p:cNvSpPr txBox="1"/>
          <p:nvPr/>
        </p:nvSpPr>
        <p:spPr>
          <a:xfrm>
            <a:off x="8839200" y="1837944"/>
            <a:ext cx="228600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400" b="1">
                <a:solidFill>
                  <a:srgbClr val="000000"/>
                </a:solidFill>
                <a:latin typeface="Aptos"/>
              </a:rPr>
              <a:t>Linux command
execution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A3F908-237F-0659-9A62-4251FCE81578}"/>
              </a:ext>
            </a:extLst>
          </p:cNvPr>
          <p:cNvSpPr/>
          <p:nvPr/>
        </p:nvSpPr>
        <p:spPr>
          <a:xfrm>
            <a:off x="1798320" y="3758184"/>
            <a:ext cx="8503920" cy="914400"/>
          </a:xfrm>
          <a:prstGeom prst="rect">
            <a:avLst/>
          </a:prstGeom>
          <a:solidFill>
            <a:srgbClr val="F8F8F8"/>
          </a:solidFill>
          <a:ln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502EBB6-F36E-477D-1432-A6ACE3E610B9}"/>
              </a:ext>
            </a:extLst>
          </p:cNvPr>
          <p:cNvSpPr txBox="1"/>
          <p:nvPr/>
        </p:nvSpPr>
        <p:spPr>
          <a:xfrm>
            <a:off x="1962912" y="3877056"/>
            <a:ext cx="8174736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2400" b="0">
                <a:solidFill>
                  <a:srgbClr val="000000"/>
                </a:solidFill>
                <a:latin typeface="Consolas"/>
              </a:rPr>
              <a:t>whoami → www-data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E3C41A8-9E1C-A29A-EE05-930C55E125D3}"/>
              </a:ext>
            </a:extLst>
          </p:cNvPr>
          <p:cNvSpPr txBox="1"/>
          <p:nvPr/>
        </p:nvSpPr>
        <p:spPr>
          <a:xfrm>
            <a:off x="883920" y="5084064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800" b="1">
                <a:solidFill>
                  <a:srgbClr val="000000"/>
                </a:solidFill>
                <a:latin typeface="Aptos"/>
              </a:rPr>
              <a:t>RCE does NOT automatically mean root access. RCE means remote execution.</a:t>
            </a:r>
          </a:p>
        </p:txBody>
      </p:sp>
    </p:spTree>
    <p:extLst>
      <p:ext uri="{BB962C8B-B14F-4D97-AF65-F5344CB8AC3E}">
        <p14:creationId xmlns:p14="http://schemas.microsoft.com/office/powerpoint/2010/main" val="31884263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4399FB1-3BAE-6913-3BF7-3248C5C55CD8}"/>
              </a:ext>
            </a:extLst>
          </p:cNvPr>
          <p:cNvSpPr txBox="1"/>
          <p:nvPr/>
        </p:nvSpPr>
        <p:spPr>
          <a:xfrm>
            <a:off x="586740" y="265176"/>
            <a:ext cx="1097280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2800" b="1" dirty="0">
                <a:solidFill>
                  <a:srgbClr val="000000"/>
                </a:solidFill>
                <a:latin typeface="Aptos"/>
              </a:rPr>
              <a:t> Complete Attack Chain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09C327F-6155-E1E3-77B2-85AF22383A10}"/>
              </a:ext>
            </a:extLst>
          </p:cNvPr>
          <p:cNvSpPr/>
          <p:nvPr/>
        </p:nvSpPr>
        <p:spPr>
          <a:xfrm>
            <a:off x="586740" y="877824"/>
            <a:ext cx="1097280" cy="411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DB38A8-E3D8-8E1A-A127-9E3916728B95}"/>
              </a:ext>
            </a:extLst>
          </p:cNvPr>
          <p:cNvSpPr txBox="1"/>
          <p:nvPr/>
        </p:nvSpPr>
        <p:spPr>
          <a:xfrm>
            <a:off x="586740" y="996696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300" b="0">
                <a:solidFill>
                  <a:srgbClr val="6E6E6E"/>
                </a:solidFill>
                <a:latin typeface="Aptos"/>
              </a:rPr>
              <a:t>End-to-end vulnerability flow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3E7707E-1AD6-0B8D-2C09-D9A7E0CDB843}"/>
              </a:ext>
            </a:extLst>
          </p:cNvPr>
          <p:cNvSpPr/>
          <p:nvPr/>
        </p:nvSpPr>
        <p:spPr>
          <a:xfrm>
            <a:off x="358140" y="2066544"/>
            <a:ext cx="1234440" cy="1051560"/>
          </a:xfrm>
          <a:prstGeom prst="roundRect">
            <a:avLst/>
          </a:prstGeom>
          <a:solidFill>
            <a:srgbClr val="F5F5F5"/>
          </a:solidFill>
          <a:ln w="1778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CD4CC8-57F2-4154-B0AE-8B2222D724A6}"/>
              </a:ext>
            </a:extLst>
          </p:cNvPr>
          <p:cNvSpPr txBox="1"/>
          <p:nvPr/>
        </p:nvSpPr>
        <p:spPr>
          <a:xfrm>
            <a:off x="449580" y="2157984"/>
            <a:ext cx="10515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400" b="1">
                <a:solidFill>
                  <a:srgbClr val="000000"/>
                </a:solidFill>
                <a:latin typeface="Aptos"/>
              </a:rPr>
              <a:t>Discover upload API</a:t>
            </a:r>
          </a:p>
        </p:txBody>
      </p:sp>
      <p:cxnSp>
        <p:nvCxnSpPr>
          <p:cNvPr id="7" name="Connector 6">
            <a:extLst>
              <a:ext uri="{FF2B5EF4-FFF2-40B4-BE49-F238E27FC236}">
                <a16:creationId xmlns:a16="http://schemas.microsoft.com/office/drawing/2014/main" id="{A821AA94-0A74-FF47-A4EE-B20FEEB0E114}"/>
              </a:ext>
            </a:extLst>
          </p:cNvPr>
          <p:cNvCxnSpPr/>
          <p:nvPr/>
        </p:nvCxnSpPr>
        <p:spPr>
          <a:xfrm>
            <a:off x="1592580" y="2596896"/>
            <a:ext cx="228600" cy="0"/>
          </a:xfrm>
          <a:prstGeom prst="line">
            <a:avLst/>
          </a:prstGeom>
          <a:ln w="228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9DA3B66-B614-B62E-5E53-F6F8C58AFAF2}"/>
              </a:ext>
            </a:extLst>
          </p:cNvPr>
          <p:cNvSpPr/>
          <p:nvPr/>
        </p:nvSpPr>
        <p:spPr>
          <a:xfrm>
            <a:off x="1821180" y="2066544"/>
            <a:ext cx="1234440" cy="1051560"/>
          </a:xfrm>
          <a:prstGeom prst="roundRect">
            <a:avLst/>
          </a:prstGeom>
          <a:solidFill>
            <a:srgbClr val="F5F5F5"/>
          </a:solidFill>
          <a:ln w="1778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2F48CF-BB57-288C-7D53-856BF1994577}"/>
              </a:ext>
            </a:extLst>
          </p:cNvPr>
          <p:cNvSpPr txBox="1"/>
          <p:nvPr/>
        </p:nvSpPr>
        <p:spPr>
          <a:xfrm>
            <a:off x="1912620" y="2157984"/>
            <a:ext cx="10515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400" b="1">
                <a:solidFill>
                  <a:srgbClr val="000000"/>
                </a:solidFill>
                <a:latin typeface="Aptos"/>
              </a:rPr>
              <a:t>Unauthenticated upload</a:t>
            </a:r>
          </a:p>
        </p:txBody>
      </p:sp>
      <p:cxnSp>
        <p:nvCxnSpPr>
          <p:cNvPr id="10" name="Connector 9">
            <a:extLst>
              <a:ext uri="{FF2B5EF4-FFF2-40B4-BE49-F238E27FC236}">
                <a16:creationId xmlns:a16="http://schemas.microsoft.com/office/drawing/2014/main" id="{135EE85C-CC08-C76B-6D8E-FA60D818798A}"/>
              </a:ext>
            </a:extLst>
          </p:cNvPr>
          <p:cNvCxnSpPr/>
          <p:nvPr/>
        </p:nvCxnSpPr>
        <p:spPr>
          <a:xfrm>
            <a:off x="3055620" y="2596896"/>
            <a:ext cx="228600" cy="0"/>
          </a:xfrm>
          <a:prstGeom prst="line">
            <a:avLst/>
          </a:prstGeom>
          <a:ln w="228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5BB29D09-8F7D-2AA1-D8E6-BCEF536647A1}"/>
              </a:ext>
            </a:extLst>
          </p:cNvPr>
          <p:cNvSpPr/>
          <p:nvPr/>
        </p:nvSpPr>
        <p:spPr>
          <a:xfrm>
            <a:off x="3284220" y="2066544"/>
            <a:ext cx="1234440" cy="1051560"/>
          </a:xfrm>
          <a:prstGeom prst="roundRect">
            <a:avLst/>
          </a:prstGeom>
          <a:solidFill>
            <a:srgbClr val="F5F5F5"/>
          </a:solidFill>
          <a:ln w="1778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DD7A17C-590D-3F17-5E14-33DEA70A06AB}"/>
              </a:ext>
            </a:extLst>
          </p:cNvPr>
          <p:cNvSpPr txBox="1"/>
          <p:nvPr/>
        </p:nvSpPr>
        <p:spPr>
          <a:xfrm>
            <a:off x="3375660" y="2157984"/>
            <a:ext cx="10515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400" b="1">
                <a:solidFill>
                  <a:srgbClr val="000000"/>
                </a:solidFill>
                <a:latin typeface="Aptos"/>
              </a:rPr>
              <a:t>Accept .php</a:t>
            </a:r>
          </a:p>
        </p:txBody>
      </p:sp>
      <p:cxnSp>
        <p:nvCxnSpPr>
          <p:cNvPr id="13" name="Connector 12">
            <a:extLst>
              <a:ext uri="{FF2B5EF4-FFF2-40B4-BE49-F238E27FC236}">
                <a16:creationId xmlns:a16="http://schemas.microsoft.com/office/drawing/2014/main" id="{C2389380-42F3-302A-D6D9-241A9B14DE32}"/>
              </a:ext>
            </a:extLst>
          </p:cNvPr>
          <p:cNvCxnSpPr/>
          <p:nvPr/>
        </p:nvCxnSpPr>
        <p:spPr>
          <a:xfrm>
            <a:off x="4518660" y="2596896"/>
            <a:ext cx="228600" cy="0"/>
          </a:xfrm>
          <a:prstGeom prst="line">
            <a:avLst/>
          </a:prstGeom>
          <a:ln w="228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46E46989-D4FB-F3FA-F8AF-88DD5C4DFC66}"/>
              </a:ext>
            </a:extLst>
          </p:cNvPr>
          <p:cNvSpPr/>
          <p:nvPr/>
        </p:nvSpPr>
        <p:spPr>
          <a:xfrm>
            <a:off x="4747260" y="2066544"/>
            <a:ext cx="1234440" cy="1051560"/>
          </a:xfrm>
          <a:prstGeom prst="roundRect">
            <a:avLst/>
          </a:prstGeom>
          <a:solidFill>
            <a:srgbClr val="F5F5F5"/>
          </a:solidFill>
          <a:ln w="1778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D820766-7EA3-2922-6811-BE3AF855D0CB}"/>
              </a:ext>
            </a:extLst>
          </p:cNvPr>
          <p:cNvSpPr txBox="1"/>
          <p:nvPr/>
        </p:nvSpPr>
        <p:spPr>
          <a:xfrm>
            <a:off x="4838700" y="2157984"/>
            <a:ext cx="10515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400" b="1">
                <a:solidFill>
                  <a:srgbClr val="000000"/>
                </a:solidFill>
                <a:latin typeface="Aptos"/>
              </a:rPr>
              <a:t>Store in web root</a:t>
            </a:r>
          </a:p>
        </p:txBody>
      </p:sp>
      <p:cxnSp>
        <p:nvCxnSpPr>
          <p:cNvPr id="16" name="Connector 15">
            <a:extLst>
              <a:ext uri="{FF2B5EF4-FFF2-40B4-BE49-F238E27FC236}">
                <a16:creationId xmlns:a16="http://schemas.microsoft.com/office/drawing/2014/main" id="{69A86E8C-E864-B4C7-4C8C-B59446EFCC49}"/>
              </a:ext>
            </a:extLst>
          </p:cNvPr>
          <p:cNvCxnSpPr/>
          <p:nvPr/>
        </p:nvCxnSpPr>
        <p:spPr>
          <a:xfrm>
            <a:off x="5981700" y="2596896"/>
            <a:ext cx="228600" cy="0"/>
          </a:xfrm>
          <a:prstGeom prst="line">
            <a:avLst/>
          </a:prstGeom>
          <a:ln w="228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0749244D-8B88-D301-2C64-A148E7047308}"/>
              </a:ext>
            </a:extLst>
          </p:cNvPr>
          <p:cNvSpPr/>
          <p:nvPr/>
        </p:nvSpPr>
        <p:spPr>
          <a:xfrm>
            <a:off x="6210300" y="2066544"/>
            <a:ext cx="1234440" cy="1051560"/>
          </a:xfrm>
          <a:prstGeom prst="roundRect">
            <a:avLst/>
          </a:prstGeom>
          <a:solidFill>
            <a:srgbClr val="F5F5F5"/>
          </a:solidFill>
          <a:ln w="1778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74C8D34-2399-6C8A-D106-553EAF6F3151}"/>
              </a:ext>
            </a:extLst>
          </p:cNvPr>
          <p:cNvSpPr txBox="1"/>
          <p:nvPr/>
        </p:nvSpPr>
        <p:spPr>
          <a:xfrm>
            <a:off x="6301740" y="2157984"/>
            <a:ext cx="10515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400" b="1">
                <a:solidFill>
                  <a:srgbClr val="000000"/>
                </a:solidFill>
                <a:latin typeface="Aptos"/>
              </a:rPr>
              <a:t>Apache executes PHP</a:t>
            </a:r>
          </a:p>
        </p:txBody>
      </p:sp>
      <p:cxnSp>
        <p:nvCxnSpPr>
          <p:cNvPr id="19" name="Connector 18">
            <a:extLst>
              <a:ext uri="{FF2B5EF4-FFF2-40B4-BE49-F238E27FC236}">
                <a16:creationId xmlns:a16="http://schemas.microsoft.com/office/drawing/2014/main" id="{A890C663-D2FA-BB63-DEAC-A3C31594C603}"/>
              </a:ext>
            </a:extLst>
          </p:cNvPr>
          <p:cNvCxnSpPr/>
          <p:nvPr/>
        </p:nvCxnSpPr>
        <p:spPr>
          <a:xfrm>
            <a:off x="7444740" y="2596896"/>
            <a:ext cx="228600" cy="0"/>
          </a:xfrm>
          <a:prstGeom prst="line">
            <a:avLst/>
          </a:prstGeom>
          <a:ln w="228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2AB04C6A-AB81-5FB8-D62A-EF1AA4E17A88}"/>
              </a:ext>
            </a:extLst>
          </p:cNvPr>
          <p:cNvSpPr/>
          <p:nvPr/>
        </p:nvSpPr>
        <p:spPr>
          <a:xfrm>
            <a:off x="7673339" y="2066544"/>
            <a:ext cx="1234440" cy="1051560"/>
          </a:xfrm>
          <a:prstGeom prst="roundRect">
            <a:avLst/>
          </a:prstGeom>
          <a:solidFill>
            <a:srgbClr val="F5F5F5"/>
          </a:solidFill>
          <a:ln w="1778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29F0271-0370-1B07-75C1-57C4C44082FA}"/>
              </a:ext>
            </a:extLst>
          </p:cNvPr>
          <p:cNvSpPr txBox="1"/>
          <p:nvPr/>
        </p:nvSpPr>
        <p:spPr>
          <a:xfrm>
            <a:off x="7764779" y="2157984"/>
            <a:ext cx="10515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400" b="1">
                <a:solidFill>
                  <a:srgbClr val="000000"/>
                </a:solidFill>
                <a:latin typeface="Aptos"/>
              </a:rPr>
              <a:t>cmd reaches system()</a:t>
            </a:r>
          </a:p>
        </p:txBody>
      </p:sp>
      <p:cxnSp>
        <p:nvCxnSpPr>
          <p:cNvPr id="22" name="Connector 21">
            <a:extLst>
              <a:ext uri="{FF2B5EF4-FFF2-40B4-BE49-F238E27FC236}">
                <a16:creationId xmlns:a16="http://schemas.microsoft.com/office/drawing/2014/main" id="{F60495D8-C85F-E1CB-0C3B-F6BD1A59B2F3}"/>
              </a:ext>
            </a:extLst>
          </p:cNvPr>
          <p:cNvCxnSpPr/>
          <p:nvPr/>
        </p:nvCxnSpPr>
        <p:spPr>
          <a:xfrm>
            <a:off x="8907779" y="2596896"/>
            <a:ext cx="228600" cy="0"/>
          </a:xfrm>
          <a:prstGeom prst="line">
            <a:avLst/>
          </a:prstGeom>
          <a:ln w="228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94B7E5C5-0F07-B894-B848-F07371AEB6E8}"/>
              </a:ext>
            </a:extLst>
          </p:cNvPr>
          <p:cNvSpPr/>
          <p:nvPr/>
        </p:nvSpPr>
        <p:spPr>
          <a:xfrm>
            <a:off x="9136380" y="2066544"/>
            <a:ext cx="1234440" cy="10515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0C80626-F97C-7347-794C-EFAC25255B82}"/>
              </a:ext>
            </a:extLst>
          </p:cNvPr>
          <p:cNvSpPr txBox="1"/>
          <p:nvPr/>
        </p:nvSpPr>
        <p:spPr>
          <a:xfrm>
            <a:off x="9227820" y="2157984"/>
            <a:ext cx="10515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400" b="1">
                <a:solidFill>
                  <a:srgbClr val="000000"/>
                </a:solidFill>
                <a:latin typeface="Aptos"/>
              </a:rPr>
              <a:t>OS command executes</a:t>
            </a:r>
          </a:p>
        </p:txBody>
      </p:sp>
      <p:cxnSp>
        <p:nvCxnSpPr>
          <p:cNvPr id="25" name="Connector 24">
            <a:extLst>
              <a:ext uri="{FF2B5EF4-FFF2-40B4-BE49-F238E27FC236}">
                <a16:creationId xmlns:a16="http://schemas.microsoft.com/office/drawing/2014/main" id="{ABAE1DE0-174D-1249-8FC4-42D0BC1BE0FD}"/>
              </a:ext>
            </a:extLst>
          </p:cNvPr>
          <p:cNvCxnSpPr/>
          <p:nvPr/>
        </p:nvCxnSpPr>
        <p:spPr>
          <a:xfrm>
            <a:off x="10370820" y="2596896"/>
            <a:ext cx="228600" cy="0"/>
          </a:xfrm>
          <a:prstGeom prst="line">
            <a:avLst/>
          </a:prstGeom>
          <a:ln w="228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767808E4-1D5E-A826-ADFC-F5381B168FFA}"/>
              </a:ext>
            </a:extLst>
          </p:cNvPr>
          <p:cNvSpPr/>
          <p:nvPr/>
        </p:nvSpPr>
        <p:spPr>
          <a:xfrm>
            <a:off x="10599420" y="2066544"/>
            <a:ext cx="1234440" cy="10515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1C81DB2-4B35-9331-5609-E22BE6E6462A}"/>
              </a:ext>
            </a:extLst>
          </p:cNvPr>
          <p:cNvSpPr txBox="1"/>
          <p:nvPr/>
        </p:nvSpPr>
        <p:spPr>
          <a:xfrm>
            <a:off x="10690860" y="2157984"/>
            <a:ext cx="10515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400" b="1">
                <a:solidFill>
                  <a:srgbClr val="000000"/>
                </a:solidFill>
                <a:latin typeface="Aptos"/>
              </a:rPr>
              <a:t>Output returned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940E8FF-DC9E-A89C-BA18-A768E1800715}"/>
              </a:ext>
            </a:extLst>
          </p:cNvPr>
          <p:cNvSpPr txBox="1"/>
          <p:nvPr/>
        </p:nvSpPr>
        <p:spPr>
          <a:xfrm>
            <a:off x="861060" y="3895343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900" b="1">
                <a:solidFill>
                  <a:srgbClr val="000000"/>
                </a:solidFill>
                <a:latin typeface="Aptos"/>
              </a:rPr>
              <a:t>The vulnerability is the combination of unsafe upload handling and executable web-root storage, with the RCE proof providing the final command-execution step.</a:t>
            </a:r>
          </a:p>
        </p:txBody>
      </p:sp>
    </p:spTree>
    <p:extLst>
      <p:ext uri="{BB962C8B-B14F-4D97-AF65-F5344CB8AC3E}">
        <p14:creationId xmlns:p14="http://schemas.microsoft.com/office/powerpoint/2010/main" val="17961102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AF5C6AD-1DCD-DD07-193A-006217CEB973}"/>
              </a:ext>
            </a:extLst>
          </p:cNvPr>
          <p:cNvSpPr txBox="1"/>
          <p:nvPr/>
        </p:nvSpPr>
        <p:spPr>
          <a:xfrm>
            <a:off x="609600" y="265176"/>
            <a:ext cx="1097280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2800" b="1" dirty="0">
                <a:solidFill>
                  <a:srgbClr val="000000"/>
                </a:solidFill>
                <a:latin typeface="Aptos"/>
              </a:rPr>
              <a:t>Conclusion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94A2C4-3D82-A9E9-A586-E3AF384895A1}"/>
              </a:ext>
            </a:extLst>
          </p:cNvPr>
          <p:cNvSpPr/>
          <p:nvPr/>
        </p:nvSpPr>
        <p:spPr>
          <a:xfrm>
            <a:off x="609600" y="877824"/>
            <a:ext cx="1097280" cy="411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5C8598-E2A4-927D-4C5E-C4345A107DEB}"/>
              </a:ext>
            </a:extLst>
          </p:cNvPr>
          <p:cNvSpPr txBox="1"/>
          <p:nvPr/>
        </p:nvSpPr>
        <p:spPr>
          <a:xfrm>
            <a:off x="609600" y="996696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300" b="0">
                <a:solidFill>
                  <a:srgbClr val="6E6E6E"/>
                </a:solidFill>
                <a:latin typeface="Aptos"/>
              </a:rPr>
              <a:t>What the project demonstrates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A7BDF1-79F7-19DD-7793-BEF58DCD39FB}"/>
              </a:ext>
            </a:extLst>
          </p:cNvPr>
          <p:cNvSpPr txBox="1"/>
          <p:nvPr/>
        </p:nvSpPr>
        <p:spPr>
          <a:xfrm>
            <a:off x="883920" y="1335024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400" b="1">
                <a:solidFill>
                  <a:srgbClr val="000000"/>
                </a:solidFill>
                <a:latin typeface="Aptos"/>
              </a:rPr>
              <a:t>UNRESTRICTED FILE UPLOAD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8A25EE-079C-B594-73D9-DA2F973D0EE0}"/>
              </a:ext>
            </a:extLst>
          </p:cNvPr>
          <p:cNvSpPr txBox="1"/>
          <p:nvPr/>
        </p:nvSpPr>
        <p:spPr>
          <a:xfrm>
            <a:off x="883920" y="2112264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400" b="1">
                <a:solidFill>
                  <a:srgbClr val="000000"/>
                </a:solidFill>
                <a:latin typeface="Aptos"/>
              </a:rPr>
              <a:t>↓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5CD537-2A44-EC2D-4F2C-A2F03912C24A}"/>
              </a:ext>
            </a:extLst>
          </p:cNvPr>
          <p:cNvSpPr txBox="1"/>
          <p:nvPr/>
        </p:nvSpPr>
        <p:spPr>
          <a:xfrm>
            <a:off x="883920" y="2523744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400" b="1">
                <a:solidFill>
                  <a:srgbClr val="000000"/>
                </a:solidFill>
                <a:latin typeface="Aptos"/>
              </a:rPr>
              <a:t>PHP SERVER-SIDE EXECUTION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25B325-4003-ADF2-B3FB-E9F962CE060C}"/>
              </a:ext>
            </a:extLst>
          </p:cNvPr>
          <p:cNvSpPr txBox="1"/>
          <p:nvPr/>
        </p:nvSpPr>
        <p:spPr>
          <a:xfrm>
            <a:off x="883920" y="3300984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400" b="1">
                <a:solidFill>
                  <a:srgbClr val="000000"/>
                </a:solidFill>
                <a:latin typeface="Aptos"/>
              </a:rPr>
              <a:t>↓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03E9C8-5F40-F614-8571-18A037ADFBB8}"/>
              </a:ext>
            </a:extLst>
          </p:cNvPr>
          <p:cNvSpPr txBox="1"/>
          <p:nvPr/>
        </p:nvSpPr>
        <p:spPr>
          <a:xfrm>
            <a:off x="883920" y="3712464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400" b="1">
                <a:solidFill>
                  <a:srgbClr val="000000"/>
                </a:solidFill>
                <a:latin typeface="Aptos"/>
              </a:rPr>
              <a:t>REMOTE OS COMMAND EXECUTION (RCE)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8839F12-53D9-C9FA-1339-ED6A278D8DCA}"/>
              </a:ext>
            </a:extLst>
          </p:cNvPr>
          <p:cNvSpPr txBox="1"/>
          <p:nvPr/>
        </p:nvSpPr>
        <p:spPr>
          <a:xfrm>
            <a:off x="883920" y="4809744"/>
            <a:ext cx="102412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900" b="1">
                <a:solidFill>
                  <a:srgbClr val="000000"/>
                </a:solidFill>
                <a:latin typeface="Aptos"/>
              </a:rPr>
              <a:t>The key lesson: user-controlled files must never become executable server-side code.</a:t>
            </a:r>
          </a:p>
        </p:txBody>
      </p:sp>
    </p:spTree>
    <p:extLst>
      <p:ext uri="{BB962C8B-B14F-4D97-AF65-F5344CB8AC3E}">
        <p14:creationId xmlns:p14="http://schemas.microsoft.com/office/powerpoint/2010/main" val="26090810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451</Words>
  <Application>Microsoft Office PowerPoint</Application>
  <PresentationFormat>Widescreen</PresentationFormat>
  <Paragraphs>82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jayaaswin M</dc:creator>
  <cp:lastModifiedBy>jayaaswin M</cp:lastModifiedBy>
  <cp:revision>2</cp:revision>
  <dcterms:created xsi:type="dcterms:W3CDTF">2026-09-29T05:23:35Z</dcterms:created>
  <dcterms:modified xsi:type="dcterms:W3CDTF">2026-09-29T06:19:03Z</dcterms:modified>
</cp:coreProperties>
</file>